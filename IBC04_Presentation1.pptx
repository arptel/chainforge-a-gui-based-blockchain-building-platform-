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Helvetica Neue" panose="020B0604020202020204" charset="0"/>
      <p:regular r:id="rId14"/>
      <p:bold r:id="rId15"/>
      <p:italic r:id="rId16"/>
      <p:boldItalic r:id="rId17"/>
    </p:embeddedFont>
    <p:embeddedFont>
      <p:font typeface="Helvetica Neue Light" panose="020B0604020202020204" charset="0"/>
      <p:regular r:id="rId18"/>
      <p:bold r:id="rId19"/>
      <p:italic r:id="rId20"/>
      <p:boldItalic r:id="rId21"/>
    </p:embeddedFont>
    <p:embeddedFont>
      <p:font typeface="Roboto Mono" panose="020F0502020204030204" pitchFamily="49"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36" autoAdjust="0"/>
  </p:normalViewPr>
  <p:slideViewPr>
    <p:cSldViewPr snapToGrid="0">
      <p:cViewPr varScale="1">
        <p:scale>
          <a:sx n="53" d="100"/>
          <a:sy n="53" d="100"/>
        </p:scale>
        <p:origin x="115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h Patel" userId="f77b5902b2b00404" providerId="LiveId" clId="{1EF6CFC1-5331-4F3C-AF4D-DB6709E249DE}"/>
    <pc:docChg chg="custSel modSld">
      <pc:chgData name="Arth Patel" userId="f77b5902b2b00404" providerId="LiveId" clId="{1EF6CFC1-5331-4F3C-AF4D-DB6709E249DE}" dt="2026-02-18T18:25:53.374" v="78" actId="20577"/>
      <pc:docMkLst>
        <pc:docMk/>
      </pc:docMkLst>
      <pc:sldChg chg="modSp mod">
        <pc:chgData name="Arth Patel" userId="f77b5902b2b00404" providerId="LiveId" clId="{1EF6CFC1-5331-4F3C-AF4D-DB6709E249DE}" dt="2026-02-18T18:18:33.610" v="2" actId="1076"/>
        <pc:sldMkLst>
          <pc:docMk/>
          <pc:sldMk cId="0" sldId="259"/>
        </pc:sldMkLst>
        <pc:spChg chg="mod">
          <ac:chgData name="Arth Patel" userId="f77b5902b2b00404" providerId="LiveId" clId="{1EF6CFC1-5331-4F3C-AF4D-DB6709E249DE}" dt="2026-02-18T18:18:33.610" v="2" actId="1076"/>
          <ac:spMkLst>
            <pc:docMk/>
            <pc:sldMk cId="0" sldId="259"/>
            <ac:spMk id="115" creationId="{00000000-0000-0000-0000-000000000000}"/>
          </ac:spMkLst>
        </pc:spChg>
      </pc:sldChg>
      <pc:sldChg chg="modSp mod">
        <pc:chgData name="Arth Patel" userId="f77b5902b2b00404" providerId="LiveId" clId="{1EF6CFC1-5331-4F3C-AF4D-DB6709E249DE}" dt="2026-02-18T18:20:01.972" v="4" actId="1076"/>
        <pc:sldMkLst>
          <pc:docMk/>
          <pc:sldMk cId="0" sldId="262"/>
        </pc:sldMkLst>
        <pc:picChg chg="mod">
          <ac:chgData name="Arth Patel" userId="f77b5902b2b00404" providerId="LiveId" clId="{1EF6CFC1-5331-4F3C-AF4D-DB6709E249DE}" dt="2026-02-18T18:19:59.706" v="3" actId="14100"/>
          <ac:picMkLst>
            <pc:docMk/>
            <pc:sldMk cId="0" sldId="262"/>
            <ac:picMk id="170" creationId="{00000000-0000-0000-0000-000000000000}"/>
          </ac:picMkLst>
        </pc:picChg>
        <pc:picChg chg="mod">
          <ac:chgData name="Arth Patel" userId="f77b5902b2b00404" providerId="LiveId" clId="{1EF6CFC1-5331-4F3C-AF4D-DB6709E249DE}" dt="2026-02-18T18:20:01.972" v="4" actId="1076"/>
          <ac:picMkLst>
            <pc:docMk/>
            <pc:sldMk cId="0" sldId="262"/>
            <ac:picMk id="171" creationId="{00000000-0000-0000-0000-000000000000}"/>
          </ac:picMkLst>
        </pc:picChg>
      </pc:sldChg>
      <pc:sldChg chg="modSp mod">
        <pc:chgData name="Arth Patel" userId="f77b5902b2b00404" providerId="LiveId" clId="{1EF6CFC1-5331-4F3C-AF4D-DB6709E249DE}" dt="2026-02-18T18:21:15.490" v="10" actId="1076"/>
        <pc:sldMkLst>
          <pc:docMk/>
          <pc:sldMk cId="0" sldId="263"/>
        </pc:sldMkLst>
        <pc:spChg chg="mod">
          <ac:chgData name="Arth Patel" userId="f77b5902b2b00404" providerId="LiveId" clId="{1EF6CFC1-5331-4F3C-AF4D-DB6709E249DE}" dt="2026-02-18T18:21:11.493" v="9" actId="1076"/>
          <ac:spMkLst>
            <pc:docMk/>
            <pc:sldMk cId="0" sldId="263"/>
            <ac:spMk id="179" creationId="{00000000-0000-0000-0000-000000000000}"/>
          </ac:spMkLst>
        </pc:spChg>
        <pc:spChg chg="mod">
          <ac:chgData name="Arth Patel" userId="f77b5902b2b00404" providerId="LiveId" clId="{1EF6CFC1-5331-4F3C-AF4D-DB6709E249DE}" dt="2026-02-18T18:21:15.490" v="10" actId="1076"/>
          <ac:spMkLst>
            <pc:docMk/>
            <pc:sldMk cId="0" sldId="263"/>
            <ac:spMk id="180" creationId="{00000000-0000-0000-0000-000000000000}"/>
          </ac:spMkLst>
        </pc:spChg>
        <pc:spChg chg="mod">
          <ac:chgData name="Arth Patel" userId="f77b5902b2b00404" providerId="LiveId" clId="{1EF6CFC1-5331-4F3C-AF4D-DB6709E249DE}" dt="2026-02-18T18:21:04.820" v="8" actId="14100"/>
          <ac:spMkLst>
            <pc:docMk/>
            <pc:sldMk cId="0" sldId="263"/>
            <ac:spMk id="181" creationId="{00000000-0000-0000-0000-000000000000}"/>
          </ac:spMkLst>
        </pc:spChg>
      </pc:sldChg>
      <pc:sldChg chg="modSp mod">
        <pc:chgData name="Arth Patel" userId="f77b5902b2b00404" providerId="LiveId" clId="{1EF6CFC1-5331-4F3C-AF4D-DB6709E249DE}" dt="2026-02-18T18:23:38.632" v="12" actId="14100"/>
        <pc:sldMkLst>
          <pc:docMk/>
          <pc:sldMk cId="0" sldId="264"/>
        </pc:sldMkLst>
        <pc:spChg chg="mod">
          <ac:chgData name="Arth Patel" userId="f77b5902b2b00404" providerId="LiveId" clId="{1EF6CFC1-5331-4F3C-AF4D-DB6709E249DE}" dt="2026-02-18T18:23:35.096" v="11" actId="14100"/>
          <ac:spMkLst>
            <pc:docMk/>
            <pc:sldMk cId="0" sldId="264"/>
            <ac:spMk id="188" creationId="{00000000-0000-0000-0000-000000000000}"/>
          </ac:spMkLst>
        </pc:spChg>
        <pc:spChg chg="mod">
          <ac:chgData name="Arth Patel" userId="f77b5902b2b00404" providerId="LiveId" clId="{1EF6CFC1-5331-4F3C-AF4D-DB6709E249DE}" dt="2026-02-18T18:23:38.632" v="12" actId="14100"/>
          <ac:spMkLst>
            <pc:docMk/>
            <pc:sldMk cId="0" sldId="264"/>
            <ac:spMk id="189" creationId="{00000000-0000-0000-0000-000000000000}"/>
          </ac:spMkLst>
        </pc:spChg>
      </pc:sldChg>
      <pc:sldChg chg="modSp mod">
        <pc:chgData name="Arth Patel" userId="f77b5902b2b00404" providerId="LiveId" clId="{1EF6CFC1-5331-4F3C-AF4D-DB6709E249DE}" dt="2026-02-18T18:25:53.374" v="78" actId="20577"/>
        <pc:sldMkLst>
          <pc:docMk/>
          <pc:sldMk cId="0" sldId="265"/>
        </pc:sldMkLst>
        <pc:spChg chg="mod">
          <ac:chgData name="Arth Patel" userId="f77b5902b2b00404" providerId="LiveId" clId="{1EF6CFC1-5331-4F3C-AF4D-DB6709E249DE}" dt="2026-02-18T18:24:57.543" v="13" actId="14100"/>
          <ac:spMkLst>
            <pc:docMk/>
            <pc:sldMk cId="0" sldId="265"/>
            <ac:spMk id="197" creationId="{00000000-0000-0000-0000-000000000000}"/>
          </ac:spMkLst>
        </pc:spChg>
        <pc:spChg chg="mod">
          <ac:chgData name="Arth Patel" userId="f77b5902b2b00404" providerId="LiveId" clId="{1EF6CFC1-5331-4F3C-AF4D-DB6709E249DE}" dt="2026-02-18T18:25:53.374" v="78" actId="20577"/>
          <ac:spMkLst>
            <pc:docMk/>
            <pc:sldMk cId="0" sldId="265"/>
            <ac:spMk id="19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“Good morning/afternoon. We are presenting our project ChainForge, which is a platform for creating customizable blockchain systems. In this presentation, we will explain our problem, design approach, and planned implementation.”</a:t>
            </a: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e8d4a90a8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Most developers understand web systems and databases, but not blockchain internals. This makes blockchain adoption difficult. Our motivation is to provide a reusable foundation so that developers can focus on solving real problems instead of learning low-level blockchain concepts.</a:t>
            </a:r>
            <a:endParaRPr/>
          </a:p>
        </p:txBody>
      </p:sp>
      <p:sp>
        <p:nvSpPr>
          <p:cNvPr id="101" name="Google Shape;101;g3be8d4a90a8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be8d4a90a8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To explain our platform, we use a certificate verification example. Universities issue certificates, students receive them, and companies verify them. Today, verification is manual and trust-based. A blockchain can store immutable issuance records, allowing instant verification.</a:t>
            </a:r>
            <a:endParaRPr/>
          </a:p>
          <a:p>
            <a:pPr marL="0" lvl="0" indent="0" algn="l" rtl="0">
              <a:spcBef>
                <a:spcPts val="0"/>
              </a:spcBef>
              <a:spcAft>
                <a:spcPts val="0"/>
              </a:spcAft>
              <a:buNone/>
            </a:pPr>
            <a:r>
              <a:rPr lang="en-US"/>
              <a:t>In this use case, smart contracts can be used to ensure that only authorized universities issue certificates and that all records follow a fixed format. The blockchain stores certificate hashes, while companies can verify records through smart contracts. However, legal validation remains outside the blockchain.</a:t>
            </a:r>
            <a:endParaRPr/>
          </a:p>
        </p:txBody>
      </p:sp>
      <p:sp>
        <p:nvSpPr>
          <p:cNvPr id="110" name="Google Shape;110;g3be8d4a90a8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be8d4a90a8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ChainForge guides the developer through a structured workflow. The user selects architecture, defines roles and permissions, and configures optional smart contracts. Based on this input, the platform generates a ready-to-deploy blockchain package that runs on the user’s infrastructure.</a:t>
            </a:r>
            <a:endParaRPr/>
          </a:p>
        </p:txBody>
      </p:sp>
      <p:sp>
        <p:nvSpPr>
          <p:cNvPr id="120" name="Google Shape;120;g3be8d4a90a8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e8d4a90a8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lnSpc>
                <a:spcPct val="115000"/>
              </a:lnSpc>
              <a:spcBef>
                <a:spcPts val="0"/>
              </a:spcBef>
              <a:spcAft>
                <a:spcPts val="0"/>
              </a:spcAft>
              <a:buNone/>
            </a:pPr>
            <a:r>
              <a:rPr lang="en-US" sz="1500" b="1">
                <a:latin typeface="Helvetica Neue"/>
                <a:ea typeface="Helvetica Neue"/>
                <a:cs typeface="Helvetica Neue"/>
                <a:sym typeface="Helvetica Neue"/>
              </a:rPr>
              <a:t>This project is divided into two parts: the control plane and the data plane.</a:t>
            </a: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None/>
            </a:pPr>
            <a:br>
              <a:rPr lang="en-US" sz="1500" b="1">
                <a:latin typeface="Helvetica Neue"/>
                <a:ea typeface="Helvetica Neue"/>
                <a:cs typeface="Helvetica Neue"/>
                <a:sym typeface="Helvetica Neue"/>
              </a:rPr>
            </a:br>
            <a:r>
              <a:rPr lang="en-US" sz="1500" b="1">
                <a:latin typeface="Helvetica Neue"/>
                <a:ea typeface="Helvetica Neue"/>
                <a:cs typeface="Helvetica Neue"/>
                <a:sym typeface="Helvetica Neue"/>
              </a:rPr>
              <a:t>The control plane consists of the web dashboard, the platform backend, and the configuration engine.</a:t>
            </a: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Clr>
                <a:schemeClr val="dk1"/>
              </a:buClr>
              <a:buSzPts val="1100"/>
              <a:buFont typeface="Arial"/>
              <a:buNone/>
            </a:pPr>
            <a:br>
              <a:rPr lang="en-US" sz="1500" b="1">
                <a:latin typeface="Helvetica Neue"/>
                <a:ea typeface="Helvetica Neue"/>
                <a:cs typeface="Helvetica Neue"/>
                <a:sym typeface="Helvetica Neue"/>
              </a:rPr>
            </a:br>
            <a:r>
              <a:rPr lang="en-US" sz="1500" b="1">
                <a:latin typeface="Helvetica Neue"/>
                <a:ea typeface="Helvetica Neue"/>
                <a:cs typeface="Helvetica Neue"/>
                <a:sym typeface="Helvetica Neue"/>
              </a:rPr>
              <a:t>The configuration engine fetches templates from the template repository and generates a configuration package based on user-defined settings. A template is a blueprint that defines how many nodes exist, their roles, and system behavior.</a:t>
            </a: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US" sz="1500" b="1">
                <a:latin typeface="Helvetica Neue"/>
                <a:ea typeface="Helvetica Neue"/>
                <a:cs typeface="Helvetica Neue"/>
                <a:sym typeface="Helvetica Neue"/>
              </a:rPr>
              <a:t>The generated setup is deployed into the data plane. The data plane consists of multiple nodes with different responsibilities. </a:t>
            </a: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None/>
            </a:pP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US" sz="1500" b="1">
                <a:latin typeface="Helvetica Neue"/>
                <a:ea typeface="Helvetica Neue"/>
                <a:cs typeface="Helvetica Neue"/>
                <a:sym typeface="Helvetica Neue"/>
              </a:rPr>
              <a:t>In this case the template defines that there are 2 reader nodes &amp; 2 writer nodes along with one leader node so the Writer nodes submit new records, the leader node is responsible for ordering and committing those records, and reader nodes independently verify and store the finalized blocks.</a:t>
            </a: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Clr>
                <a:schemeClr val="dk1"/>
              </a:buClr>
              <a:buSzPts val="1100"/>
              <a:buFont typeface="Arial"/>
              <a:buNone/>
            </a:pPr>
            <a:endParaRPr sz="1500" b="1">
              <a:latin typeface="Helvetica Neue"/>
              <a:ea typeface="Helvetica Neue"/>
              <a:cs typeface="Helvetica Neue"/>
              <a:sym typeface="Helvetica Neue"/>
            </a:endParaRPr>
          </a:p>
          <a:p>
            <a:pPr marL="0" lvl="0" indent="0" algn="l" rtl="0">
              <a:lnSpc>
                <a:spcPct val="115000"/>
              </a:lnSpc>
              <a:spcBef>
                <a:spcPts val="0"/>
              </a:spcBef>
              <a:spcAft>
                <a:spcPts val="0"/>
              </a:spcAft>
              <a:buClr>
                <a:schemeClr val="dk1"/>
              </a:buClr>
              <a:buSzPts val="1100"/>
              <a:buFont typeface="Arial"/>
              <a:buNone/>
            </a:pPr>
            <a:r>
              <a:rPr lang="en-US" sz="1500" b="1">
                <a:latin typeface="Helvetica Neue"/>
                <a:ea typeface="Helvetica Neue"/>
                <a:cs typeface="Helvetica Neue"/>
                <a:sym typeface="Helvetica Neue"/>
              </a:rPr>
              <a:t>Each node maintains its own append-only storage. This ensures that records cannot be modified once written, and consistency is maintained across nodes.</a:t>
            </a:r>
            <a:endParaRPr sz="1500" b="1">
              <a:latin typeface="Helvetica Neue"/>
              <a:ea typeface="Helvetica Neue"/>
              <a:cs typeface="Helvetica Neue"/>
              <a:sym typeface="Helvetica Neue"/>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b="1"/>
              <a:t>Q: Is the blockchain here centralised? </a:t>
            </a:r>
            <a:endParaRPr b="1"/>
          </a:p>
          <a:p>
            <a:pPr marL="0" lvl="0" indent="0" algn="l" rtl="0">
              <a:spcBef>
                <a:spcPts val="0"/>
              </a:spcBef>
              <a:spcAft>
                <a:spcPts val="0"/>
              </a:spcAft>
              <a:buNone/>
            </a:pPr>
            <a:r>
              <a:rPr lang="en-US" b="1"/>
              <a:t>Ans: The ordering mechanism is centralized through the leader, but storage and verification are distributed across independent nodes.</a:t>
            </a: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1️⃣ “Why do you need a leader node?”</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Safe 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leader ensures a consistent order of records when multiple writers exist. Without ordering, conflicting entries could occur.”</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That’s enough. Don’t mention consensus algorithms unless asked.</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2️⃣ “What happens if the leader fails?”</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Safe 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the current design, the leader is a single point of ordering. Future versions can implement leader election for fault tolerance.”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 show awareness but don’t overclaim.</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3️⃣ “If writers exist, why not let them write directly?”</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“Allowing multiple writers to commit independently can cause conflicting histories. The leader enforces a single consistent sequence.”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Simple. Logical.</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4️⃣ “How do reader nodes verify blocks?”</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“Reader nodes independently check record integrity by validating the linkage between records and ensuring ordering consistency before storing them.”</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 math explanation needed unless asked.</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5️⃣ “Why separate control plane and data plane?”</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“Separating orchestration from record execution improves modularity and scalability. The control plane manages configuration, while the data plane handles execution and storage.”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sounds architect-level.</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6️⃣ “Why use templates?”</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“Templates allow us to define different system structures without modifying backend logic. This enables rapid and flexible deployment.”</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ties directly to your architecture.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7️⃣ “Is this fully decentralized?”</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 this design prioritizes controlled ordering with distributed verification rather than full decentralization.”</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Very mature answer.</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8️⃣ “What prevents a malicious leader from cheating?”</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Safe 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“Because reader nodes independently verify record integrity, inconsistencies would be detectable. However, leader trust assumptions depend on deployment mode.”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a smart, honest answer.</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9️⃣ “Isn’t this just a distributed database?”</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one is tricky.</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Say:</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“It is a distributed system, but it enforces append-only storage and ordered record linkage, which prevents silent modification of historical data.”</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differentiates you without buzzwords.</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800"/>
              </a:spcBef>
              <a:spcAft>
                <a:spcPts val="0"/>
              </a:spcAft>
              <a:buClr>
                <a:schemeClr val="dk1"/>
              </a:buClr>
              <a:buSzPts val="1100"/>
              <a:buFont typeface="Arial"/>
              <a:buNone/>
            </a:pPr>
            <a:r>
              <a:rPr lang="en-US" sz="1700" b="1">
                <a:latin typeface="Arial"/>
                <a:ea typeface="Arial"/>
                <a:cs typeface="Arial"/>
                <a:sym typeface="Arial"/>
              </a:rPr>
              <a:t>🔟 “Why not remove the control plane and hard-code everything?”</a:t>
            </a:r>
            <a:endParaRPr sz="17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Answer:</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control plane allows dynamic configuration and scalable deployment without changing application logic.”</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reinforces design thinking.</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2400"/>
              </a:spcBef>
              <a:spcAft>
                <a:spcPts val="0"/>
              </a:spcAft>
              <a:buClr>
                <a:schemeClr val="dk1"/>
              </a:buClr>
              <a:buSzPts val="1100"/>
              <a:buFont typeface="Arial"/>
              <a:buNone/>
            </a:pPr>
            <a:r>
              <a:rPr lang="en-US" sz="2300" b="1">
                <a:latin typeface="Arial"/>
                <a:ea typeface="Arial"/>
                <a:cs typeface="Arial"/>
                <a:sym typeface="Arial"/>
              </a:rPr>
              <a:t>🎯 Most Important One</a:t>
            </a:r>
            <a:endParaRPr sz="23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someone asks:</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“What makes this a blockchain?”</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Say:</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system maintains an ordered, append-only history where each record references the previous one, making tampering detectable.”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Stop there.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is the safest definition.</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2400"/>
              </a:spcBef>
              <a:spcAft>
                <a:spcPts val="0"/>
              </a:spcAft>
              <a:buClr>
                <a:schemeClr val="dk1"/>
              </a:buClr>
              <a:buSzPts val="1100"/>
              <a:buFont typeface="Arial"/>
              <a:buNone/>
            </a:pPr>
            <a:r>
              <a:rPr lang="en-US" sz="2300" b="1">
                <a:latin typeface="Arial"/>
                <a:ea typeface="Arial"/>
                <a:cs typeface="Arial"/>
                <a:sym typeface="Arial"/>
              </a:rPr>
              <a:t>🧠 Final Advice</a:t>
            </a:r>
            <a:endParaRPr sz="23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 ever feel unsure: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Always bring answers back to:</a:t>
            </a:r>
            <a:endParaRPr sz="1100">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Ordering</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Append-only storage</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Independent verification</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Separation of concerns</a:t>
            </a:r>
            <a:br>
              <a:rPr lang="en-US" sz="1100">
                <a:latin typeface="Arial"/>
                <a:ea typeface="Arial"/>
                <a:cs typeface="Arial"/>
                <a:sym typeface="Arial"/>
              </a:rPr>
            </a:b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Those four pillars defend your entire architecture.</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 want, I can now:</a:t>
            </a:r>
            <a:endParaRPr sz="1100">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Simulate a mini viva with you</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Give rapid-fire questions</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Or help you craft perfect confident tone answers</a:t>
            </a:r>
            <a:br>
              <a:rPr lang="en-US" sz="1100">
                <a:latin typeface="Arial"/>
                <a:ea typeface="Arial"/>
                <a:cs typeface="Arial"/>
                <a:sym typeface="Arial"/>
              </a:rPr>
            </a:b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Just say the word 🔥</a:t>
            </a:r>
            <a:endParaRPr sz="1100">
              <a:latin typeface="Arial"/>
              <a:ea typeface="Arial"/>
              <a:cs typeface="Arial"/>
              <a:sym typeface="Arial"/>
            </a:endParaRPr>
          </a:p>
          <a:p>
            <a:pPr marL="0" lvl="0" indent="0" algn="l" rtl="0">
              <a:spcBef>
                <a:spcPts val="1200"/>
              </a:spcBef>
              <a:spcAft>
                <a:spcPts val="0"/>
              </a:spcAft>
              <a:buNone/>
            </a:pPr>
            <a:endParaRPr b="1"/>
          </a:p>
          <a:p>
            <a:pPr marL="0" lvl="0" indent="0" algn="l" rtl="0">
              <a:spcBef>
                <a:spcPts val="0"/>
              </a:spcBef>
              <a:spcAft>
                <a:spcPts val="0"/>
              </a:spcAft>
              <a:buNone/>
            </a:pPr>
            <a:endParaRPr/>
          </a:p>
          <a:p>
            <a:pPr marL="0" lvl="0" indent="0" algn="l" rtl="0">
              <a:spcBef>
                <a:spcPts val="0"/>
              </a:spcBef>
              <a:spcAft>
                <a:spcPts val="0"/>
              </a:spcAft>
              <a:buNone/>
            </a:pPr>
            <a:r>
              <a:rPr lang="en-US"/>
              <a:t>our architecture is divided into two parts. The control plane handles blockchain creation and configuration, while the data plane handles actual blockchain execution. ChainForge generates deployment packages but does not store blockchain data</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1. An API server (FastAPI)</a:t>
            </a:r>
            <a:endParaRPr/>
          </a:p>
          <a:p>
            <a:pPr marL="0" lvl="0" indent="0" algn="l" rtl="0">
              <a:spcBef>
                <a:spcPts val="0"/>
              </a:spcBef>
              <a:spcAft>
                <a:spcPts val="0"/>
              </a:spcAft>
              <a:buClr>
                <a:schemeClr val="dk1"/>
              </a:buClr>
              <a:buSzPts val="1100"/>
              <a:buFont typeface="Arial"/>
              <a:buNone/>
            </a:pPr>
            <a:r>
              <a:rPr lang="en-US"/>
              <a:t>2. A ledger engine</a:t>
            </a:r>
            <a:endParaRPr/>
          </a:p>
          <a:p>
            <a:pPr marL="0" lvl="0" indent="0" algn="l" rtl="0">
              <a:spcBef>
                <a:spcPts val="0"/>
              </a:spcBef>
              <a:spcAft>
                <a:spcPts val="0"/>
              </a:spcAft>
              <a:buClr>
                <a:schemeClr val="dk1"/>
              </a:buClr>
              <a:buSzPts val="1100"/>
              <a:buFont typeface="Arial"/>
              <a:buNone/>
            </a:pPr>
            <a:r>
              <a:rPr lang="en-US"/>
              <a:t>3. A block data model</a:t>
            </a:r>
            <a:endParaRPr/>
          </a:p>
          <a:p>
            <a:pPr marL="0" lvl="0" indent="0" algn="l" rtl="0">
              <a:spcBef>
                <a:spcPts val="0"/>
              </a:spcBef>
              <a:spcAft>
                <a:spcPts val="0"/>
              </a:spcAft>
              <a:buClr>
                <a:schemeClr val="dk1"/>
              </a:buClr>
              <a:buSzPts val="1100"/>
              <a:buFont typeface="Arial"/>
              <a:buNone/>
            </a:pPr>
            <a:r>
              <a:rPr lang="en-US"/>
              <a:t>4. A hash-linking mechanism</a:t>
            </a:r>
            <a:endParaRPr/>
          </a:p>
          <a:p>
            <a:pPr marL="0" lvl="0" indent="0" algn="l" rtl="0">
              <a:spcBef>
                <a:spcPts val="0"/>
              </a:spcBef>
              <a:spcAft>
                <a:spcPts val="0"/>
              </a:spcAft>
              <a:buClr>
                <a:schemeClr val="dk1"/>
              </a:buClr>
              <a:buSzPts val="1100"/>
              <a:buFont typeface="Arial"/>
              <a:buNone/>
            </a:pPr>
            <a:r>
              <a:rPr lang="en-US"/>
              <a:t>5. A rule engine (contracts)</a:t>
            </a:r>
            <a:endParaRPr/>
          </a:p>
          <a:p>
            <a:pPr marL="0" lvl="0" indent="0" algn="l" rtl="0">
              <a:spcBef>
                <a:spcPts val="0"/>
              </a:spcBef>
              <a:spcAft>
                <a:spcPts val="0"/>
              </a:spcAft>
              <a:buClr>
                <a:schemeClr val="dk1"/>
              </a:buClr>
              <a:buSzPts val="1100"/>
              <a:buFont typeface="Arial"/>
              <a:buNone/>
            </a:pPr>
            <a:r>
              <a:rPr lang="en-US"/>
              <a:t>6. A database that never overwrites data</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US"/>
              <a:t>This architecture is divided into two main parts: a control plane and a data plane.</a:t>
            </a:r>
            <a:endParaRPr/>
          </a:p>
          <a:p>
            <a:pPr marL="0" lvl="0" indent="0" algn="l" rtl="0">
              <a:lnSpc>
                <a:spcPct val="115000"/>
              </a:lnSpc>
              <a:spcBef>
                <a:spcPts val="1200"/>
              </a:spcBef>
              <a:spcAft>
                <a:spcPts val="0"/>
              </a:spcAft>
              <a:buClr>
                <a:schemeClr val="dk1"/>
              </a:buClr>
              <a:buSzPts val="1100"/>
              <a:buFont typeface="Arial"/>
              <a:buNone/>
            </a:pPr>
            <a:r>
              <a:rPr lang="en-US"/>
              <a:t>The control plane consists of the web dashboard, the platform backend, and the configuration engine.</a:t>
            </a:r>
            <a:br>
              <a:rPr lang="en-US"/>
            </a:br>
            <a:r>
              <a:rPr lang="en-US"/>
              <a:t> The dashboard is only responsible for user interaction. All logic and orchestration happen in the platform backend.</a:t>
            </a:r>
            <a:endParaRPr/>
          </a:p>
          <a:p>
            <a:pPr marL="0" lvl="0" indent="0" algn="l" rtl="0">
              <a:lnSpc>
                <a:spcPct val="115000"/>
              </a:lnSpc>
              <a:spcBef>
                <a:spcPts val="1200"/>
              </a:spcBef>
              <a:spcAft>
                <a:spcPts val="0"/>
              </a:spcAft>
              <a:buClr>
                <a:schemeClr val="dk1"/>
              </a:buClr>
              <a:buSzPts val="1100"/>
              <a:buFont typeface="Arial"/>
              <a:buNone/>
            </a:pPr>
            <a:r>
              <a:rPr lang="en-US"/>
              <a:t>The configuration engine generates system-specific configurations from predefined templates. These templated basically describe the blockchain to be created, for example a centralized blockchain with 1 writer node and multiple reader nodes. </a:t>
            </a:r>
            <a:endParaRPr/>
          </a:p>
          <a:p>
            <a:pPr marL="0" lvl="0" indent="0" algn="l" rtl="0">
              <a:lnSpc>
                <a:spcPct val="115000"/>
              </a:lnSpc>
              <a:spcBef>
                <a:spcPts val="1200"/>
              </a:spcBef>
              <a:spcAft>
                <a:spcPts val="0"/>
              </a:spcAft>
              <a:buClr>
                <a:schemeClr val="dk1"/>
              </a:buClr>
              <a:buSzPts val="1100"/>
              <a:buFont typeface="Arial"/>
              <a:buNone/>
            </a:pPr>
            <a:r>
              <a:rPr lang="en-US"/>
              <a:t>These templates describe how many nodes exist, their roles, and system rules. This allows the system to be configured without changing backend code.</a:t>
            </a:r>
            <a:endParaRPr/>
          </a:p>
          <a:p>
            <a:pPr marL="0" lvl="0" indent="0" algn="l" rtl="0">
              <a:lnSpc>
                <a:spcPct val="115000"/>
              </a:lnSpc>
              <a:spcBef>
                <a:spcPts val="1200"/>
              </a:spcBef>
              <a:spcAft>
                <a:spcPts val="0"/>
              </a:spcAft>
              <a:buClr>
                <a:schemeClr val="dk1"/>
              </a:buClr>
              <a:buSzPts val="1100"/>
              <a:buFont typeface="Arial"/>
              <a:buNone/>
            </a:pPr>
            <a:r>
              <a:rPr lang="en-US"/>
              <a:t>Once a configuration is generated, the platform backend deploys it into the data plane. Nodes join the system using a secure registration process, where they authenticate using a secret key and receive their configuration dynamically.</a:t>
            </a:r>
            <a:endParaRPr/>
          </a:p>
          <a:p>
            <a:pPr marL="0" lvl="0" indent="0" algn="l" rtl="0">
              <a:lnSpc>
                <a:spcPct val="115000"/>
              </a:lnSpc>
              <a:spcBef>
                <a:spcPts val="1200"/>
              </a:spcBef>
              <a:spcAft>
                <a:spcPts val="0"/>
              </a:spcAft>
              <a:buClr>
                <a:schemeClr val="dk1"/>
              </a:buClr>
              <a:buSzPts val="1100"/>
              <a:buFont typeface="Arial"/>
              <a:buNone/>
            </a:pPr>
            <a:r>
              <a:rPr lang="en-US"/>
              <a:t>The data plane consists of multiple nodes. One node acts as the leader and appends new records, while reader nodes independently verify and store the same history. Each node maintains its own append-only storage.</a:t>
            </a:r>
            <a:endParaRPr/>
          </a:p>
          <a:p>
            <a:pPr marL="0" lvl="0" indent="0" algn="l" rtl="0">
              <a:lnSpc>
                <a:spcPct val="115000"/>
              </a:lnSpc>
              <a:spcBef>
                <a:spcPts val="1200"/>
              </a:spcBef>
              <a:spcAft>
                <a:spcPts val="0"/>
              </a:spcAft>
              <a:buClr>
                <a:schemeClr val="dk1"/>
              </a:buClr>
              <a:buSzPts val="1100"/>
              <a:buFont typeface="Arial"/>
              <a:buNone/>
            </a:pPr>
            <a:r>
              <a:rPr lang="en-US"/>
              <a:t>This separation ensures that control and configuration are isolated from record storage and verification, making the system scalable and tamper-evident.</a:t>
            </a:r>
            <a:endParaRPr/>
          </a:p>
          <a:p>
            <a:pPr marL="0" lvl="0" indent="0" algn="l" rtl="0">
              <a:spcBef>
                <a:spcPts val="1200"/>
              </a:spcBef>
              <a:spcAft>
                <a:spcPts val="0"/>
              </a:spcAft>
              <a:buNone/>
            </a:pPr>
            <a:endParaRPr/>
          </a:p>
        </p:txBody>
      </p:sp>
      <p:sp>
        <p:nvSpPr>
          <p:cNvPr id="131" name="Google Shape;131;g3be8d4a90a8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ef7226f7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Q why didnt u use etheruim </a:t>
            </a:r>
            <a:endParaRPr/>
          </a:p>
          <a:p>
            <a:pPr marL="0" lvl="0" indent="0" algn="l" rtl="0">
              <a:lnSpc>
                <a:spcPct val="115000"/>
              </a:lnSpc>
              <a:spcBef>
                <a:spcPts val="1200"/>
              </a:spcBef>
              <a:spcAft>
                <a:spcPts val="0"/>
              </a:spcAft>
              <a:buClr>
                <a:schemeClr val="dk1"/>
              </a:buClr>
              <a:buSzPts val="1100"/>
              <a:buFont typeface="Arial"/>
              <a:buNone/>
            </a:pPr>
            <a:r>
              <a:rPr lang="en-US"/>
              <a:t>Ethereum is designed for public, permissionless networks where participants are unknown and untrusted. Our system targets permissioned environments, such as institutions or enterprise use cases, where participants are identified and governed by defined policies.</a:t>
            </a:r>
            <a:endParaRPr/>
          </a:p>
          <a:p>
            <a:pPr marL="0" lvl="0" indent="0" algn="l" rtl="0">
              <a:lnSpc>
                <a:spcPct val="115000"/>
              </a:lnSpc>
              <a:spcBef>
                <a:spcPts val="1200"/>
              </a:spcBef>
              <a:spcAft>
                <a:spcPts val="0"/>
              </a:spcAft>
              <a:buClr>
                <a:schemeClr val="dk1"/>
              </a:buClr>
              <a:buSzPts val="1100"/>
              <a:buFont typeface="Arial"/>
              <a:buNone/>
            </a:pPr>
            <a:r>
              <a:rPr lang="en-US"/>
              <a:t>Using Ethereum would introduce unnecessary complexity, including gas mechanisms, public consensus, and virtual machine execution. Our goal is to design a configurable, application-oriented ledger framework rather than deploy on a public cryptocurrency network</a:t>
            </a:r>
            <a:endParaRPr/>
          </a:p>
          <a:p>
            <a:pPr marL="0" lvl="0" indent="0" algn="l" rtl="0">
              <a:spcBef>
                <a:spcPts val="1200"/>
              </a:spcBef>
              <a:spcAft>
                <a:spcPts val="0"/>
              </a:spcAft>
              <a:buNone/>
            </a:pPr>
            <a:endParaRPr/>
          </a:p>
        </p:txBody>
      </p:sp>
      <p:sp>
        <p:nvSpPr>
          <p:cNvPr id="140" name="Google Shape;140;g3bef7226f7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be8e748ed3_2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Our platform supports both public and permissioned blockchains. Public blockchains are fully decentralized, while permissioned blockchains can operate in centralized or distributed modes. All architectures share core blockchain properties such as immutability, validation, and auditability.</a:t>
            </a:r>
            <a:endParaRPr/>
          </a:p>
        </p:txBody>
      </p:sp>
      <p:sp>
        <p:nvSpPr>
          <p:cNvPr id="174" name="Google Shape;174;g3be8e748ed3_2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be8e748ed3_2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3be8e748ed3_2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beab3d8857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g3beab3d8857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beab3d8857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beab3d8857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801B19"/>
        </a:solidFill>
        <a:effectLst/>
      </p:bgPr>
    </p:bg>
    <p:spTree>
      <p:nvGrpSpPr>
        <p:cNvPr id="1" name="Shape 18"/>
        <p:cNvGrpSpPr/>
        <p:nvPr/>
      </p:nvGrpSpPr>
      <p:grpSpPr>
        <a:xfrm>
          <a:off x="0" y="0"/>
          <a:ext cx="0" cy="0"/>
          <a:chOff x="0" y="0"/>
          <a:chExt cx="0" cy="0"/>
        </a:xfrm>
      </p:grpSpPr>
      <p:sp>
        <p:nvSpPr>
          <p:cNvPr id="19" name="Google Shape;19;p2"/>
          <p:cNvSpPr txBox="1">
            <a:spLocks noGrp="1"/>
          </p:cNvSpPr>
          <p:nvPr>
            <p:ph type="title"/>
          </p:nvPr>
        </p:nvSpPr>
        <p:spPr>
          <a:xfrm>
            <a:off x="844150" y="3874808"/>
            <a:ext cx="10515600" cy="835416"/>
          </a:xfrm>
          <a:prstGeom prst="rect">
            <a:avLst/>
          </a:prstGeom>
          <a:noFill/>
          <a:ln>
            <a:noFill/>
          </a:ln>
        </p:spPr>
        <p:txBody>
          <a:bodyPr spcFirstLastPara="1" wrap="square" lIns="91425" tIns="45700" rIns="91425" bIns="45700" anchor="t" anchorCtr="1">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0" name="Google Shape;20;p2"/>
          <p:cNvPicPr preferRelativeResize="0"/>
          <p:nvPr/>
        </p:nvPicPr>
        <p:blipFill rotWithShape="1">
          <a:blip r:embed="rId2">
            <a:alphaModFix/>
          </a:blip>
          <a:srcRect/>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000"/>
              <a:buFont typeface="Helvetica Neue Light"/>
              <a:buNone/>
              <a:defRPr sz="2000" b="0" i="0">
                <a:solidFill>
                  <a:srgbClr val="888888"/>
                </a:solidFill>
                <a:latin typeface="Helvetica Neue Light"/>
                <a:ea typeface="Helvetica Neue Light"/>
                <a:cs typeface="Helvetica Neue Light"/>
                <a:sym typeface="Helvetica Neue Light"/>
              </a:defRPr>
            </a:lvl1pPr>
            <a:lvl2pPr marL="914400" lvl="1" indent="-228600" algn="l">
              <a:lnSpc>
                <a:spcPct val="90000"/>
              </a:lnSpc>
              <a:spcBef>
                <a:spcPts val="500"/>
              </a:spcBef>
              <a:spcAft>
                <a:spcPts val="0"/>
              </a:spcAft>
              <a:buClr>
                <a:srgbClr val="888888"/>
              </a:buClr>
              <a:buSzPts val="2000"/>
              <a:buFont typeface="Helvetica Neue Light"/>
              <a:buNone/>
              <a:defRPr sz="2000">
                <a:solidFill>
                  <a:srgbClr val="888888"/>
                </a:solidFill>
              </a:defRPr>
            </a:lvl2pPr>
            <a:lvl3pPr marL="1371600" lvl="2" indent="-228600" algn="l">
              <a:lnSpc>
                <a:spcPct val="90000"/>
              </a:lnSpc>
              <a:spcBef>
                <a:spcPts val="500"/>
              </a:spcBef>
              <a:spcAft>
                <a:spcPts val="0"/>
              </a:spcAft>
              <a:buClr>
                <a:srgbClr val="888888"/>
              </a:buClr>
              <a:buSzPts val="1800"/>
              <a:buFont typeface="Helvetica Neue Light"/>
              <a:buNone/>
              <a:defRPr sz="1800">
                <a:solidFill>
                  <a:srgbClr val="888888"/>
                </a:solidFill>
              </a:defRPr>
            </a:lvl3pPr>
            <a:lvl4pPr marL="1828800" lvl="3" indent="-228600" algn="l">
              <a:lnSpc>
                <a:spcPct val="90000"/>
              </a:lnSpc>
              <a:spcBef>
                <a:spcPts val="500"/>
              </a:spcBef>
              <a:spcAft>
                <a:spcPts val="0"/>
              </a:spcAft>
              <a:buClr>
                <a:srgbClr val="888888"/>
              </a:buClr>
              <a:buSzPts val="1600"/>
              <a:buFont typeface="Helvetica Neue Light"/>
              <a:buNone/>
              <a:defRPr sz="1600">
                <a:solidFill>
                  <a:srgbClr val="888888"/>
                </a:solidFill>
              </a:defRPr>
            </a:lvl4pPr>
            <a:lvl5pPr marL="2286000" lvl="4" indent="-228600" algn="l">
              <a:lnSpc>
                <a:spcPct val="90000"/>
              </a:lnSpc>
              <a:spcBef>
                <a:spcPts val="500"/>
              </a:spcBef>
              <a:spcAft>
                <a:spcPts val="0"/>
              </a:spcAft>
              <a:buClr>
                <a:srgbClr val="888888"/>
              </a:buClr>
              <a:buSzPts val="1600"/>
              <a:buFont typeface="Helvetica Neue Light"/>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3"/>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25" name="Google Shape;25;p3"/>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6" name="Google Shape;26;p3"/>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594303" y="266700"/>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582427" y="1768950"/>
            <a:ext cx="10515600"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Font typeface="Helvetica Neue Light"/>
              <a:buChar char="•"/>
              <a:defRPr sz="2400"/>
            </a:lvl1pPr>
            <a:lvl2pPr marL="914400" lvl="1" indent="-355600" algn="l">
              <a:lnSpc>
                <a:spcPct val="90000"/>
              </a:lnSpc>
              <a:spcBef>
                <a:spcPts val="500"/>
              </a:spcBef>
              <a:spcAft>
                <a:spcPts val="0"/>
              </a:spcAft>
              <a:buClr>
                <a:schemeClr val="dk1"/>
              </a:buClr>
              <a:buSzPts val="2000"/>
              <a:buFont typeface="Helvetica Neue Light"/>
              <a:buChar char="•"/>
              <a:defRPr sz="2000"/>
            </a:lvl2pPr>
            <a:lvl3pPr marL="1371600" lvl="2" indent="-342900" algn="l">
              <a:lnSpc>
                <a:spcPct val="90000"/>
              </a:lnSpc>
              <a:spcBef>
                <a:spcPts val="500"/>
              </a:spcBef>
              <a:spcAft>
                <a:spcPts val="0"/>
              </a:spcAft>
              <a:buClr>
                <a:schemeClr val="dk1"/>
              </a:buClr>
              <a:buSzPts val="1800"/>
              <a:buFont typeface="Helvetica Neue Light"/>
              <a:buChar char="•"/>
              <a:defRPr sz="1800"/>
            </a:lvl3pPr>
            <a:lvl4pPr marL="1828800" lvl="3" indent="-330200" algn="l">
              <a:lnSpc>
                <a:spcPct val="90000"/>
              </a:lnSpc>
              <a:spcBef>
                <a:spcPts val="500"/>
              </a:spcBef>
              <a:spcAft>
                <a:spcPts val="0"/>
              </a:spcAft>
              <a:buClr>
                <a:schemeClr val="dk1"/>
              </a:buClr>
              <a:buSzPts val="1600"/>
              <a:buFont typeface="Helvetica Neue Light"/>
              <a:buChar char="•"/>
              <a:defRPr sz="1600"/>
            </a:lvl4pPr>
            <a:lvl5pPr marL="2286000" lvl="4" indent="-330200" algn="l">
              <a:lnSpc>
                <a:spcPct val="90000"/>
              </a:lnSpc>
              <a:spcBef>
                <a:spcPts val="500"/>
              </a:spcBef>
              <a:spcAft>
                <a:spcPts val="0"/>
              </a:spcAft>
              <a:buClr>
                <a:schemeClr val="dk1"/>
              </a:buClr>
              <a:buSzPts val="1600"/>
              <a:buFont typeface="Helvetica Neue Light"/>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31" name="Google Shape;31;p4"/>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2" name="Google Shape;32;p4"/>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38" name="Google Shape;38;p5"/>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9" name="Google Shape;39;p5"/>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Font typeface="Helvetica Neue Light"/>
              <a:buNone/>
              <a:defRPr sz="2400" b="1"/>
            </a:lvl1pPr>
            <a:lvl2pPr marL="914400" lvl="1" indent="-228600" algn="l">
              <a:lnSpc>
                <a:spcPct val="90000"/>
              </a:lnSpc>
              <a:spcBef>
                <a:spcPts val="500"/>
              </a:spcBef>
              <a:spcAft>
                <a:spcPts val="0"/>
              </a:spcAft>
              <a:buClr>
                <a:schemeClr val="dk1"/>
              </a:buClr>
              <a:buSzPts val="2000"/>
              <a:buFont typeface="Helvetica Neue Light"/>
              <a:buNone/>
              <a:defRPr sz="2000" b="1"/>
            </a:lvl2pPr>
            <a:lvl3pPr marL="1371600" lvl="2" indent="-228600" algn="l">
              <a:lnSpc>
                <a:spcPct val="90000"/>
              </a:lnSpc>
              <a:spcBef>
                <a:spcPts val="500"/>
              </a:spcBef>
              <a:spcAft>
                <a:spcPts val="0"/>
              </a:spcAft>
              <a:buClr>
                <a:schemeClr val="dk1"/>
              </a:buClr>
              <a:buSzPts val="1800"/>
              <a:buFont typeface="Helvetica Neue Light"/>
              <a:buNone/>
              <a:defRPr sz="1800" b="1"/>
            </a:lvl3pPr>
            <a:lvl4pPr marL="1828800" lvl="3" indent="-228600" algn="l">
              <a:lnSpc>
                <a:spcPct val="90000"/>
              </a:lnSpc>
              <a:spcBef>
                <a:spcPts val="500"/>
              </a:spcBef>
              <a:spcAft>
                <a:spcPts val="0"/>
              </a:spcAft>
              <a:buClr>
                <a:schemeClr val="dk1"/>
              </a:buClr>
              <a:buSzPts val="1600"/>
              <a:buFont typeface="Helvetica Neue Light"/>
              <a:buNone/>
              <a:defRPr sz="1600" b="1"/>
            </a:lvl4pPr>
            <a:lvl5pPr marL="2286000" lvl="4" indent="-228600" algn="l">
              <a:lnSpc>
                <a:spcPct val="90000"/>
              </a:lnSpc>
              <a:spcBef>
                <a:spcPts val="500"/>
              </a:spcBef>
              <a:spcAft>
                <a:spcPts val="0"/>
              </a:spcAft>
              <a:buClr>
                <a:schemeClr val="dk1"/>
              </a:buClr>
              <a:buSzPts val="1600"/>
              <a:buFont typeface="Helvetica Neue Light"/>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Font typeface="Helvetica Neue Light"/>
              <a:buNone/>
              <a:defRPr sz="2400" b="1"/>
            </a:lvl1pPr>
            <a:lvl2pPr marL="914400" lvl="1" indent="-228600" algn="l">
              <a:lnSpc>
                <a:spcPct val="90000"/>
              </a:lnSpc>
              <a:spcBef>
                <a:spcPts val="500"/>
              </a:spcBef>
              <a:spcAft>
                <a:spcPts val="0"/>
              </a:spcAft>
              <a:buClr>
                <a:schemeClr val="dk1"/>
              </a:buClr>
              <a:buSzPts val="2000"/>
              <a:buFont typeface="Helvetica Neue Light"/>
              <a:buNone/>
              <a:defRPr sz="2000" b="1"/>
            </a:lvl2pPr>
            <a:lvl3pPr marL="1371600" lvl="2" indent="-228600" algn="l">
              <a:lnSpc>
                <a:spcPct val="90000"/>
              </a:lnSpc>
              <a:spcBef>
                <a:spcPts val="500"/>
              </a:spcBef>
              <a:spcAft>
                <a:spcPts val="0"/>
              </a:spcAft>
              <a:buClr>
                <a:schemeClr val="dk1"/>
              </a:buClr>
              <a:buSzPts val="1800"/>
              <a:buFont typeface="Helvetica Neue Light"/>
              <a:buNone/>
              <a:defRPr sz="1800" b="1"/>
            </a:lvl3pPr>
            <a:lvl4pPr marL="1828800" lvl="3" indent="-228600" algn="l">
              <a:lnSpc>
                <a:spcPct val="90000"/>
              </a:lnSpc>
              <a:spcBef>
                <a:spcPts val="500"/>
              </a:spcBef>
              <a:spcAft>
                <a:spcPts val="0"/>
              </a:spcAft>
              <a:buClr>
                <a:schemeClr val="dk1"/>
              </a:buClr>
              <a:buSzPts val="1600"/>
              <a:buFont typeface="Helvetica Neue Light"/>
              <a:buNone/>
              <a:defRPr sz="1600" b="1"/>
            </a:lvl4pPr>
            <a:lvl5pPr marL="2286000" lvl="4" indent="-228600" algn="l">
              <a:lnSpc>
                <a:spcPct val="90000"/>
              </a:lnSpc>
              <a:spcBef>
                <a:spcPts val="500"/>
              </a:spcBef>
              <a:spcAft>
                <a:spcPts val="0"/>
              </a:spcAft>
              <a:buClr>
                <a:schemeClr val="dk1"/>
              </a:buClr>
              <a:buSzPts val="1600"/>
              <a:buFont typeface="Helvetica Neue Light"/>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47" name="Google Shape;47;p6"/>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8" name="Google Shape;48;p6"/>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52" name="Google Shape;52;p7"/>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3" name="Google Shape;53;p7"/>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56" name="Google Shape;56;p8"/>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7" name="Google Shape;57;p8"/>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Font typeface="Helvetica Neue Light"/>
              <a:buChar char="•"/>
              <a:defRPr sz="3200"/>
            </a:lvl1pPr>
            <a:lvl2pPr marL="914400" lvl="1" indent="-406400" algn="l">
              <a:lnSpc>
                <a:spcPct val="90000"/>
              </a:lnSpc>
              <a:spcBef>
                <a:spcPts val="500"/>
              </a:spcBef>
              <a:spcAft>
                <a:spcPts val="0"/>
              </a:spcAft>
              <a:buClr>
                <a:schemeClr val="dk1"/>
              </a:buClr>
              <a:buSzPts val="2800"/>
              <a:buFont typeface="Helvetica Neue Light"/>
              <a:buChar char="•"/>
              <a:defRPr sz="2800"/>
            </a:lvl2pPr>
            <a:lvl3pPr marL="1371600" lvl="2" indent="-381000" algn="l">
              <a:lnSpc>
                <a:spcPct val="90000"/>
              </a:lnSpc>
              <a:spcBef>
                <a:spcPts val="500"/>
              </a:spcBef>
              <a:spcAft>
                <a:spcPts val="0"/>
              </a:spcAft>
              <a:buClr>
                <a:schemeClr val="dk1"/>
              </a:buClr>
              <a:buSzPts val="2400"/>
              <a:buFont typeface="Helvetica Neue Light"/>
              <a:buChar char="•"/>
              <a:defRPr sz="2400"/>
            </a:lvl3pPr>
            <a:lvl4pPr marL="1828800" lvl="3" indent="-355600" algn="l">
              <a:lnSpc>
                <a:spcPct val="90000"/>
              </a:lnSpc>
              <a:spcBef>
                <a:spcPts val="500"/>
              </a:spcBef>
              <a:spcAft>
                <a:spcPts val="0"/>
              </a:spcAft>
              <a:buClr>
                <a:schemeClr val="dk1"/>
              </a:buClr>
              <a:buSzPts val="2000"/>
              <a:buFont typeface="Helvetica Neue Light"/>
              <a:buChar char="•"/>
              <a:defRPr sz="2000"/>
            </a:lvl4pPr>
            <a:lvl5pPr marL="2286000" lvl="4" indent="-355600" algn="l">
              <a:lnSpc>
                <a:spcPct val="90000"/>
              </a:lnSpc>
              <a:spcBef>
                <a:spcPts val="500"/>
              </a:spcBef>
              <a:spcAft>
                <a:spcPts val="0"/>
              </a:spcAft>
              <a:buClr>
                <a:schemeClr val="dk1"/>
              </a:buClr>
              <a:buSzPts val="2000"/>
              <a:buFont typeface="Helvetica Neue Light"/>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Helvetica Neue Light"/>
              <a:buNone/>
              <a:defRPr sz="1600"/>
            </a:lvl1pPr>
            <a:lvl2pPr marL="914400" lvl="1" indent="-228600" algn="l">
              <a:lnSpc>
                <a:spcPct val="90000"/>
              </a:lnSpc>
              <a:spcBef>
                <a:spcPts val="500"/>
              </a:spcBef>
              <a:spcAft>
                <a:spcPts val="0"/>
              </a:spcAft>
              <a:buClr>
                <a:schemeClr val="dk1"/>
              </a:buClr>
              <a:buSzPts val="1400"/>
              <a:buFont typeface="Helvetica Neue Light"/>
              <a:buNone/>
              <a:defRPr sz="1400"/>
            </a:lvl2pPr>
            <a:lvl3pPr marL="1371600" lvl="2" indent="-228600" algn="l">
              <a:lnSpc>
                <a:spcPct val="90000"/>
              </a:lnSpc>
              <a:spcBef>
                <a:spcPts val="500"/>
              </a:spcBef>
              <a:spcAft>
                <a:spcPts val="0"/>
              </a:spcAft>
              <a:buClr>
                <a:schemeClr val="dk1"/>
              </a:buClr>
              <a:buSzPts val="1200"/>
              <a:buFont typeface="Helvetica Neue Light"/>
              <a:buNone/>
              <a:defRPr sz="1200"/>
            </a:lvl3pPr>
            <a:lvl4pPr marL="1828800" lvl="3" indent="-228600" algn="l">
              <a:lnSpc>
                <a:spcPct val="90000"/>
              </a:lnSpc>
              <a:spcBef>
                <a:spcPts val="500"/>
              </a:spcBef>
              <a:spcAft>
                <a:spcPts val="0"/>
              </a:spcAft>
              <a:buClr>
                <a:schemeClr val="dk1"/>
              </a:buClr>
              <a:buSzPts val="1000"/>
              <a:buFont typeface="Helvetica Neue Light"/>
              <a:buNone/>
              <a:defRPr sz="1000"/>
            </a:lvl4pPr>
            <a:lvl5pPr marL="2286000" lvl="4" indent="-228600" algn="l">
              <a:lnSpc>
                <a:spcPct val="90000"/>
              </a:lnSpc>
              <a:spcBef>
                <a:spcPts val="500"/>
              </a:spcBef>
              <a:spcAft>
                <a:spcPts val="0"/>
              </a:spcAft>
              <a:buClr>
                <a:schemeClr val="dk1"/>
              </a:buClr>
              <a:buSzPts val="1000"/>
              <a:buFont typeface="Helvetica Neue Light"/>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63" name="Google Shape;63;p9"/>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4" name="Google Shape;64;p9"/>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Helvetica Neue Light"/>
              <a:buNone/>
              <a:defRPr sz="1600"/>
            </a:lvl1pPr>
            <a:lvl2pPr marL="914400" lvl="1" indent="-228600" algn="l">
              <a:lnSpc>
                <a:spcPct val="90000"/>
              </a:lnSpc>
              <a:spcBef>
                <a:spcPts val="500"/>
              </a:spcBef>
              <a:spcAft>
                <a:spcPts val="0"/>
              </a:spcAft>
              <a:buClr>
                <a:schemeClr val="dk1"/>
              </a:buClr>
              <a:buSzPts val="1400"/>
              <a:buFont typeface="Helvetica Neue Light"/>
              <a:buNone/>
              <a:defRPr sz="1400"/>
            </a:lvl2pPr>
            <a:lvl3pPr marL="1371600" lvl="2" indent="-228600" algn="l">
              <a:lnSpc>
                <a:spcPct val="90000"/>
              </a:lnSpc>
              <a:spcBef>
                <a:spcPts val="500"/>
              </a:spcBef>
              <a:spcAft>
                <a:spcPts val="0"/>
              </a:spcAft>
              <a:buClr>
                <a:schemeClr val="dk1"/>
              </a:buClr>
              <a:buSzPts val="1200"/>
              <a:buFont typeface="Helvetica Neue Light"/>
              <a:buNone/>
              <a:defRPr sz="1200"/>
            </a:lvl3pPr>
            <a:lvl4pPr marL="1828800" lvl="3" indent="-228600" algn="l">
              <a:lnSpc>
                <a:spcPct val="90000"/>
              </a:lnSpc>
              <a:spcBef>
                <a:spcPts val="500"/>
              </a:spcBef>
              <a:spcAft>
                <a:spcPts val="0"/>
              </a:spcAft>
              <a:buClr>
                <a:schemeClr val="dk1"/>
              </a:buClr>
              <a:buSzPts val="1000"/>
              <a:buFont typeface="Helvetica Neue Light"/>
              <a:buNone/>
              <a:defRPr sz="1000"/>
            </a:lvl4pPr>
            <a:lvl5pPr marL="2286000" lvl="4" indent="-228600" algn="l">
              <a:lnSpc>
                <a:spcPct val="90000"/>
              </a:lnSpc>
              <a:spcBef>
                <a:spcPts val="500"/>
              </a:spcBef>
              <a:spcAft>
                <a:spcPts val="0"/>
              </a:spcAft>
              <a:buClr>
                <a:schemeClr val="dk1"/>
              </a:buClr>
              <a:buSzPts val="1000"/>
              <a:buFont typeface="Helvetica Neue Light"/>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70" name="Google Shape;70;p10"/>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71" name="Google Shape;71;p10"/>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76" name="Google Shape;76;p11"/>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77" name="Google Shape;77;p11"/>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82" name="Google Shape;82;p12"/>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3" name="Google Shape;83;p12"/>
          <p:cNvPicPr preferRelativeResize="0"/>
          <p:nvPr/>
        </p:nvPicPr>
        <p:blipFill rotWithShape="1">
          <a:blip r:embed="rId2">
            <a:alphaModFix/>
          </a:blip>
          <a:srcRect l="29654" t="38312" r="29480" b="38397"/>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4000"/>
              <a:buFont typeface="Helvetica Neue"/>
              <a:buNone/>
              <a:defRPr sz="4000" b="1" i="0" u="none" strike="noStrike" cap="non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Helvetica Neue Light"/>
              <a:buChar char="•"/>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Helvetica Neue Light"/>
              <a:buChar char="•"/>
              <a:defRPr sz="2400" b="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90000"/>
              </a:lnSpc>
              <a:spcBef>
                <a:spcPts val="500"/>
              </a:spcBef>
              <a:spcAft>
                <a:spcPts val="0"/>
              </a:spcAft>
              <a:buClr>
                <a:schemeClr val="dk1"/>
              </a:buClr>
              <a:buSzPts val="2000"/>
              <a:buFont typeface="Helvetica Neue Light"/>
              <a:buChar char="•"/>
              <a:defRPr sz="2000" b="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90000"/>
              </a:lnSpc>
              <a:spcBef>
                <a:spcPts val="500"/>
              </a:spcBef>
              <a:spcAft>
                <a:spcPts val="0"/>
              </a:spcAft>
              <a:buClr>
                <a:schemeClr val="dk1"/>
              </a:buClr>
              <a:buSzPts val="1800"/>
              <a:buFont typeface="Helvetica Neue Light"/>
              <a:buChar char="•"/>
              <a:defRPr sz="1800" b="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90000"/>
              </a:lnSpc>
              <a:spcBef>
                <a:spcPts val="500"/>
              </a:spcBef>
              <a:spcAft>
                <a:spcPts val="0"/>
              </a:spcAft>
              <a:buClr>
                <a:schemeClr val="dk1"/>
              </a:buClr>
              <a:buSzPts val="1800"/>
              <a:buFont typeface="Helvetica Neue Light"/>
              <a:buChar char="•"/>
              <a:defRPr sz="1800" b="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2" name="Google Shape;12;p1"/>
          <p:cNvGrpSpPr/>
          <p:nvPr/>
        </p:nvGrpSpPr>
        <p:grpSpPr>
          <a:xfrm>
            <a:off x="0" y="6756400"/>
            <a:ext cx="12192000" cy="105496"/>
            <a:chOff x="0" y="6756400"/>
            <a:chExt cx="12192000" cy="105496"/>
          </a:xfrm>
        </p:grpSpPr>
        <p:pic>
          <p:nvPicPr>
            <p:cNvPr id="13" name="Google Shape;13;p1"/>
            <p:cNvPicPr preferRelativeResize="0"/>
            <p:nvPr/>
          </p:nvPicPr>
          <p:blipFill rotWithShape="1">
            <a:blip r:embed="rId13">
              <a:alphaModFix/>
            </a:blip>
            <a:srcRect/>
            <a:stretch/>
          </p:blipFill>
          <p:spPr>
            <a:xfrm>
              <a:off x="1524000" y="6756400"/>
              <a:ext cx="9144000" cy="101600"/>
            </a:xfrm>
            <a:prstGeom prst="rect">
              <a:avLst/>
            </a:prstGeom>
            <a:noFill/>
            <a:ln>
              <a:noFill/>
            </a:ln>
          </p:spPr>
        </p:pic>
        <p:pic>
          <p:nvPicPr>
            <p:cNvPr id="14" name="Google Shape;14;p1"/>
            <p:cNvPicPr preferRelativeResize="0"/>
            <p:nvPr/>
          </p:nvPicPr>
          <p:blipFill rotWithShape="1">
            <a:blip r:embed="rId13">
              <a:alphaModFix/>
            </a:blip>
            <a:srcRect r="71580" b="15585"/>
            <a:stretch/>
          </p:blipFill>
          <p:spPr>
            <a:xfrm>
              <a:off x="0" y="6756400"/>
              <a:ext cx="2598717" cy="101600"/>
            </a:xfrm>
            <a:prstGeom prst="rect">
              <a:avLst/>
            </a:prstGeom>
            <a:noFill/>
            <a:ln>
              <a:noFill/>
            </a:ln>
          </p:spPr>
        </p:pic>
        <p:pic>
          <p:nvPicPr>
            <p:cNvPr id="15" name="Google Shape;15;p1"/>
            <p:cNvPicPr preferRelativeResize="0"/>
            <p:nvPr/>
          </p:nvPicPr>
          <p:blipFill rotWithShape="1">
            <a:blip r:embed="rId13">
              <a:alphaModFix/>
            </a:blip>
            <a:srcRect r="71580" b="15585"/>
            <a:stretch/>
          </p:blipFill>
          <p:spPr>
            <a:xfrm>
              <a:off x="9593283" y="6756400"/>
              <a:ext cx="2598717" cy="105496"/>
            </a:xfrm>
            <a:prstGeom prst="rect">
              <a:avLst/>
            </a:prstGeom>
            <a:noFill/>
            <a:ln>
              <a:noFill/>
            </a:ln>
          </p:spPr>
        </p:pic>
      </p:grpSp>
      <p:sp>
        <p:nvSpPr>
          <p:cNvPr id="16" name="Google Shape;16;p1"/>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marR="0" lvl="1"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marR="0" lvl="2"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marR="0" lvl="3"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marR="0" lvl="4"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marR="0" lvl="5"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marR="0" lvl="6"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marR="0" lvl="7"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marR="0" lvl="8"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17" name="Google Shape;17;p1"/>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7F7F7F"/>
                </a:solidFill>
                <a:latin typeface="Helvetica Neue Light"/>
                <a:ea typeface="Helvetica Neue Light"/>
                <a:cs typeface="Helvetica Neue Light"/>
                <a:sym typeface="Helvetica Neue Light"/>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838200" y="3214696"/>
            <a:ext cx="10515600" cy="1223400"/>
          </a:xfrm>
          <a:prstGeom prst="rect">
            <a:avLst/>
          </a:prstGeom>
          <a:noFill/>
          <a:ln>
            <a:noFill/>
          </a:ln>
        </p:spPr>
        <p:txBody>
          <a:bodyPr spcFirstLastPara="1" wrap="square" lIns="91425" tIns="45700" rIns="91425" bIns="45700" anchor="t" anchorCtr="1">
            <a:noAutofit/>
          </a:bodyPr>
          <a:lstStyle/>
          <a:p>
            <a:pPr marL="0" lvl="0" indent="0" algn="ctr" rtl="0">
              <a:spcBef>
                <a:spcPts val="0"/>
              </a:spcBef>
              <a:spcAft>
                <a:spcPts val="0"/>
              </a:spcAft>
              <a:buClr>
                <a:schemeClr val="dk1"/>
              </a:buClr>
              <a:buSzPts val="1100"/>
              <a:buFont typeface="Arial"/>
              <a:buNone/>
            </a:pPr>
            <a:r>
              <a:rPr lang="en-US" sz="3900">
                <a:latin typeface="Arial"/>
                <a:ea typeface="Arial"/>
                <a:cs typeface="Arial"/>
                <a:sym typeface="Arial"/>
              </a:rPr>
              <a:t>ChainForge</a:t>
            </a:r>
            <a:endParaRPr sz="3900">
              <a:latin typeface="Arial"/>
              <a:ea typeface="Arial"/>
              <a:cs typeface="Arial"/>
              <a:sym typeface="Arial"/>
            </a:endParaRPr>
          </a:p>
          <a:p>
            <a:pPr marL="0" lvl="0" indent="0" algn="ctr" rtl="0">
              <a:lnSpc>
                <a:spcPct val="90000"/>
              </a:lnSpc>
              <a:spcBef>
                <a:spcPts val="0"/>
              </a:spcBef>
              <a:spcAft>
                <a:spcPts val="0"/>
              </a:spcAft>
              <a:buClr>
                <a:schemeClr val="lt1"/>
              </a:buClr>
              <a:buSzPts val="3400"/>
              <a:buFont typeface="Helvetica Neue"/>
              <a:buNone/>
            </a:pPr>
            <a:r>
              <a:rPr lang="en-US" sz="3900">
                <a:latin typeface="Arial"/>
                <a:ea typeface="Arial"/>
                <a:cs typeface="Arial"/>
                <a:sym typeface="Arial"/>
              </a:rPr>
              <a:t>A Platform for Rapid Blockchain Creation</a:t>
            </a:r>
            <a:endParaRPr sz="6200"/>
          </a:p>
        </p:txBody>
      </p:sp>
      <p:sp>
        <p:nvSpPr>
          <p:cNvPr id="89" name="Google Shape;89;p13"/>
          <p:cNvSpPr txBox="1"/>
          <p:nvPr/>
        </p:nvSpPr>
        <p:spPr>
          <a:xfrm>
            <a:off x="7498850" y="4438100"/>
            <a:ext cx="4390200" cy="223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Team members</a:t>
            </a:r>
            <a:endParaRPr sz="2800">
              <a:solidFill>
                <a:schemeClr val="lt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Arth Patel      AU2340023</a:t>
            </a:r>
            <a:endParaRPr sz="2800">
              <a:solidFill>
                <a:schemeClr val="lt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Akshat Patel  AU2340053</a:t>
            </a:r>
            <a:endParaRPr sz="2800">
              <a:solidFill>
                <a:schemeClr val="lt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Jay Shah       AU2340069</a:t>
            </a:r>
            <a:endParaRPr sz="2800">
              <a:solidFill>
                <a:schemeClr val="lt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Jainik Patel    AU2340042</a:t>
            </a:r>
            <a:endParaRPr sz="2800">
              <a:solidFill>
                <a:schemeClr val="lt1"/>
              </a:solidFill>
              <a:latin typeface="Helvetica Neue Light"/>
              <a:ea typeface="Helvetica Neue Light"/>
              <a:cs typeface="Helvetica Neue Light"/>
              <a:sym typeface="Helvetica Neue Light"/>
            </a:endParaRPr>
          </a:p>
        </p:txBody>
      </p:sp>
      <p:sp>
        <p:nvSpPr>
          <p:cNvPr id="90" name="Google Shape;90;p13"/>
          <p:cNvSpPr txBox="1"/>
          <p:nvPr/>
        </p:nvSpPr>
        <p:spPr>
          <a:xfrm>
            <a:off x="711425" y="4438100"/>
            <a:ext cx="5969400" cy="2238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CSE542 : Introduction to Blockchain</a:t>
            </a:r>
            <a:endParaRPr sz="2800">
              <a:solidFill>
                <a:schemeClr val="lt1"/>
              </a:solidFill>
              <a:latin typeface="Helvetica Neue Light"/>
              <a:ea typeface="Helvetica Neue Light"/>
              <a:cs typeface="Helvetica Neue Light"/>
              <a:sym typeface="Helvetica Neue Light"/>
            </a:endParaRPr>
          </a:p>
          <a:p>
            <a:pPr marL="0" lvl="0" indent="0" algn="ctr" rtl="0">
              <a:spcBef>
                <a:spcPts val="0"/>
              </a:spcBef>
              <a:spcAft>
                <a:spcPts val="0"/>
              </a:spcAft>
              <a:buNone/>
            </a:pPr>
            <a:endParaRPr sz="2800">
              <a:solidFill>
                <a:schemeClr val="lt1"/>
              </a:solidFill>
              <a:latin typeface="Helvetica Neue Light"/>
              <a:ea typeface="Helvetica Neue Light"/>
              <a:cs typeface="Helvetica Neue Light"/>
              <a:sym typeface="Helvetica Neue Light"/>
            </a:endParaRPr>
          </a:p>
          <a:p>
            <a:pPr marL="0" lvl="0" indent="0" algn="ctr" rtl="0">
              <a:spcBef>
                <a:spcPts val="0"/>
              </a:spcBef>
              <a:spcAft>
                <a:spcPts val="0"/>
              </a:spcAft>
              <a:buNone/>
            </a:pPr>
            <a:r>
              <a:rPr lang="en-US" sz="2800">
                <a:solidFill>
                  <a:schemeClr val="lt1"/>
                </a:solidFill>
                <a:latin typeface="Helvetica Neue Light"/>
                <a:ea typeface="Helvetica Neue Light"/>
                <a:cs typeface="Helvetica Neue Light"/>
                <a:sym typeface="Helvetica Neue Light"/>
              </a:rPr>
              <a:t>Group - IBC04</a:t>
            </a:r>
            <a:endParaRPr sz="28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2</a:t>
            </a:fld>
            <a:endParaRPr/>
          </a:p>
        </p:txBody>
      </p:sp>
      <p:sp>
        <p:nvSpPr>
          <p:cNvPr id="96" name="Google Shape;96;p14"/>
          <p:cNvSpPr txBox="1">
            <a:spLocks noGrp="1"/>
          </p:cNvSpPr>
          <p:nvPr>
            <p:ph type="dt" idx="10"/>
          </p:nvPr>
        </p:nvSpPr>
        <p:spPr>
          <a:xfrm>
            <a:off x="7940675"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97" name="Google Shape;97;p14"/>
          <p:cNvSpPr txBox="1"/>
          <p:nvPr/>
        </p:nvSpPr>
        <p:spPr>
          <a:xfrm>
            <a:off x="239125" y="215975"/>
            <a:ext cx="70014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300" b="1">
                <a:solidFill>
                  <a:schemeClr val="dk1"/>
                </a:solidFill>
                <a:latin typeface="Helvetica Neue"/>
                <a:ea typeface="Helvetica Neue"/>
                <a:cs typeface="Helvetica Neue"/>
                <a:sym typeface="Helvetica Neue"/>
              </a:rPr>
              <a:t>Problem Statement</a:t>
            </a:r>
            <a:endParaRPr sz="3300" b="1">
              <a:solidFill>
                <a:schemeClr val="dk1"/>
              </a:solidFill>
              <a:latin typeface="Helvetica Neue"/>
              <a:ea typeface="Helvetica Neue"/>
              <a:cs typeface="Helvetica Neue"/>
              <a:sym typeface="Helvetica Neue"/>
            </a:endParaRPr>
          </a:p>
        </p:txBody>
      </p:sp>
      <p:sp>
        <p:nvSpPr>
          <p:cNvPr id="98" name="Google Shape;98;p14"/>
          <p:cNvSpPr txBox="1"/>
          <p:nvPr/>
        </p:nvSpPr>
        <p:spPr>
          <a:xfrm>
            <a:off x="189750" y="1004675"/>
            <a:ext cx="11812500" cy="5184000"/>
          </a:xfrm>
          <a:prstGeom prst="rect">
            <a:avLst/>
          </a:prstGeom>
          <a:noFill/>
          <a:ln>
            <a:noFill/>
          </a:ln>
        </p:spPr>
        <p:txBody>
          <a:bodyPr spcFirstLastPara="1" wrap="square" lIns="91425" tIns="91425" rIns="91425" bIns="91425" anchor="t" anchorCtr="0">
            <a:spAutoFit/>
          </a:bodyPr>
          <a:lstStyle/>
          <a:p>
            <a:pPr marL="457200" lvl="0" indent="-406400" algn="l" rtl="0">
              <a:spcBef>
                <a:spcPts val="0"/>
              </a:spcBef>
              <a:spcAft>
                <a:spcPts val="0"/>
              </a:spcAft>
              <a:buClr>
                <a:schemeClr val="dk1"/>
              </a:buClr>
              <a:buSzPts val="2800"/>
              <a:buFont typeface="Helvetica Neue Light"/>
              <a:buChar char="●"/>
            </a:pPr>
            <a:r>
              <a:rPr lang="en-US" sz="2800">
                <a:solidFill>
                  <a:schemeClr val="dk1"/>
                </a:solidFill>
                <a:latin typeface="Helvetica Neue Light"/>
                <a:ea typeface="Helvetica Neue Light"/>
                <a:cs typeface="Helvetica Neue Light"/>
                <a:sym typeface="Helvetica Neue Light"/>
              </a:rPr>
              <a:t>Blockchain systems provide immutability, transparency, and cryptographic integrity.</a:t>
            </a:r>
            <a:endParaRPr sz="2800">
              <a:solidFill>
                <a:schemeClr val="dk1"/>
              </a:solidFill>
              <a:latin typeface="Helvetica Neue Light"/>
              <a:ea typeface="Helvetica Neue Light"/>
              <a:cs typeface="Helvetica Neue Light"/>
              <a:sym typeface="Helvetica Neue Light"/>
            </a:endParaRPr>
          </a:p>
          <a:p>
            <a:pPr marL="457200" lvl="0" indent="-406400" algn="l" rtl="0">
              <a:spcBef>
                <a:spcPts val="0"/>
              </a:spcBef>
              <a:spcAft>
                <a:spcPts val="0"/>
              </a:spcAft>
              <a:buClr>
                <a:schemeClr val="dk1"/>
              </a:buClr>
              <a:buSzPts val="2800"/>
              <a:buFont typeface="Helvetica Neue Light"/>
              <a:buChar char="●"/>
            </a:pPr>
            <a:r>
              <a:rPr lang="en-US" sz="2800">
                <a:solidFill>
                  <a:schemeClr val="dk1"/>
                </a:solidFill>
                <a:latin typeface="Helvetica Neue Light"/>
                <a:ea typeface="Helvetica Neue Light"/>
                <a:cs typeface="Helvetica Neue Light"/>
                <a:sym typeface="Helvetica Neue Light"/>
              </a:rPr>
              <a:t>However, developing a blockchain solution requires deep expertise in distributed and decentralised systems, networking, cryptography, and security.</a:t>
            </a:r>
            <a:endParaRPr sz="2800">
              <a:solidFill>
                <a:schemeClr val="dk1"/>
              </a:solidFill>
              <a:latin typeface="Helvetica Neue Light"/>
              <a:ea typeface="Helvetica Neue Light"/>
              <a:cs typeface="Helvetica Neue Light"/>
              <a:sym typeface="Helvetica Neue Light"/>
            </a:endParaRPr>
          </a:p>
          <a:p>
            <a:pPr marL="457200" lvl="0" indent="-406400" algn="l" rtl="0">
              <a:lnSpc>
                <a:spcPct val="115000"/>
              </a:lnSpc>
              <a:spcBef>
                <a:spcPts val="0"/>
              </a:spcBef>
              <a:spcAft>
                <a:spcPts val="0"/>
              </a:spcAft>
              <a:buClr>
                <a:schemeClr val="dk1"/>
              </a:buClr>
              <a:buSzPts val="2800"/>
              <a:buFont typeface="Helvetica Neue Light"/>
              <a:buChar char="●"/>
            </a:pPr>
            <a:r>
              <a:rPr lang="en-US" sz="2800">
                <a:solidFill>
                  <a:schemeClr val="dk1"/>
                </a:solidFill>
                <a:latin typeface="Helvetica Neue Light"/>
                <a:ea typeface="Helvetica Neue Light"/>
                <a:cs typeface="Helvetica Neue Light"/>
                <a:sym typeface="Helvetica Neue Light"/>
              </a:rPr>
              <a:t>As a result:</a:t>
            </a:r>
            <a:endParaRPr sz="2800">
              <a:solidFill>
                <a:schemeClr val="dk1"/>
              </a:solidFill>
              <a:latin typeface="Helvetica Neue Light"/>
              <a:ea typeface="Helvetica Neue Light"/>
              <a:cs typeface="Helvetica Neue Light"/>
              <a:sym typeface="Helvetica Neue Light"/>
            </a:endParaRPr>
          </a:p>
          <a:p>
            <a:pPr marL="1371600" lvl="0" indent="-406400" algn="l" rtl="0">
              <a:lnSpc>
                <a:spcPct val="115000"/>
              </a:lnSpc>
              <a:spcBef>
                <a:spcPts val="0"/>
              </a:spcBef>
              <a:spcAft>
                <a:spcPts val="0"/>
              </a:spcAft>
              <a:buClr>
                <a:schemeClr val="dk1"/>
              </a:buClr>
              <a:buSzPts val="2800"/>
              <a:buFont typeface="Helvetica Neue Light"/>
              <a:buAutoNum type="arabicPeriod"/>
            </a:pPr>
            <a:r>
              <a:rPr lang="en-US" sz="2800">
                <a:solidFill>
                  <a:schemeClr val="dk1"/>
                </a:solidFill>
                <a:latin typeface="Helvetica Neue Light"/>
                <a:ea typeface="Helvetica Neue Light"/>
                <a:cs typeface="Helvetica Neue Light"/>
                <a:sym typeface="Helvetica Neue Light"/>
              </a:rPr>
              <a:t>Blockchain adoption remains limited.</a:t>
            </a:r>
            <a:endParaRPr sz="2800">
              <a:solidFill>
                <a:schemeClr val="dk1"/>
              </a:solidFill>
              <a:latin typeface="Helvetica Neue Light"/>
              <a:ea typeface="Helvetica Neue Light"/>
              <a:cs typeface="Helvetica Neue Light"/>
              <a:sym typeface="Helvetica Neue Light"/>
            </a:endParaRPr>
          </a:p>
          <a:p>
            <a:pPr marL="1371600" lvl="0" indent="-406400" algn="l" rtl="0">
              <a:lnSpc>
                <a:spcPct val="115000"/>
              </a:lnSpc>
              <a:spcBef>
                <a:spcPts val="0"/>
              </a:spcBef>
              <a:spcAft>
                <a:spcPts val="0"/>
              </a:spcAft>
              <a:buClr>
                <a:schemeClr val="dk1"/>
              </a:buClr>
              <a:buSzPts val="2800"/>
              <a:buFont typeface="Helvetica Neue Light"/>
              <a:buAutoNum type="arabicPeriod"/>
            </a:pPr>
            <a:r>
              <a:rPr lang="en-US" sz="2800">
                <a:solidFill>
                  <a:schemeClr val="dk1"/>
                </a:solidFill>
                <a:latin typeface="Helvetica Neue Light"/>
                <a:ea typeface="Helvetica Neue Light"/>
                <a:cs typeface="Helvetica Neue Light"/>
                <a:sym typeface="Helvetica Neue Light"/>
              </a:rPr>
              <a:t>Many real-world use cases avoid blockchain due to complexity.</a:t>
            </a:r>
            <a:endParaRPr sz="2800">
              <a:solidFill>
                <a:schemeClr val="dk1"/>
              </a:solidFill>
              <a:latin typeface="Helvetica Neue Light"/>
              <a:ea typeface="Helvetica Neue Light"/>
              <a:cs typeface="Helvetica Neue Light"/>
              <a:sym typeface="Helvetica Neue Light"/>
            </a:endParaRPr>
          </a:p>
          <a:p>
            <a:pPr marL="1371600" lvl="0" indent="-406400" algn="l" rtl="0">
              <a:lnSpc>
                <a:spcPct val="115000"/>
              </a:lnSpc>
              <a:spcBef>
                <a:spcPts val="0"/>
              </a:spcBef>
              <a:spcAft>
                <a:spcPts val="0"/>
              </a:spcAft>
              <a:buClr>
                <a:schemeClr val="dk1"/>
              </a:buClr>
              <a:buSzPts val="2800"/>
              <a:buFont typeface="Helvetica Neue Light"/>
              <a:buAutoNum type="arabicPeriod"/>
            </a:pPr>
            <a:r>
              <a:rPr lang="en-US" sz="2800">
                <a:solidFill>
                  <a:schemeClr val="dk1"/>
                </a:solidFill>
                <a:latin typeface="Helvetica Neue Light"/>
                <a:ea typeface="Helvetica Neue Light"/>
                <a:cs typeface="Helvetica Neue Light"/>
                <a:sym typeface="Helvetica Neue Light"/>
              </a:rPr>
              <a:t>Developers must build infrastructure from scratch.</a:t>
            </a:r>
            <a:endParaRPr sz="2800">
              <a:solidFill>
                <a:schemeClr val="dk1"/>
              </a:solidFill>
              <a:latin typeface="Helvetica Neue Light"/>
              <a:ea typeface="Helvetica Neue Light"/>
              <a:cs typeface="Helvetica Neue Light"/>
              <a:sym typeface="Helvetica Neue Light"/>
            </a:endParaRPr>
          </a:p>
          <a:p>
            <a:pPr marL="457200" lvl="0" indent="-406400" algn="l" rtl="0">
              <a:spcBef>
                <a:spcPts val="0"/>
              </a:spcBef>
              <a:spcAft>
                <a:spcPts val="0"/>
              </a:spcAft>
              <a:buClr>
                <a:schemeClr val="dk1"/>
              </a:buClr>
              <a:buSzPts val="2800"/>
              <a:buFont typeface="Helvetica Neue Light"/>
              <a:buChar char="●"/>
            </a:pPr>
            <a:r>
              <a:rPr lang="en-US" sz="2800">
                <a:solidFill>
                  <a:schemeClr val="dk1"/>
                </a:solidFill>
                <a:latin typeface="Helvetica Neue Light"/>
                <a:ea typeface="Helvetica Neue Light"/>
                <a:cs typeface="Helvetica Neue Light"/>
                <a:sym typeface="Helvetica Neue Light"/>
              </a:rPr>
              <a:t>Hence, there is a need for a system that simplifies blockchain creation while preserving its core guarantees.</a:t>
            </a:r>
            <a:endParaRPr sz="28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3</a:t>
            </a:fld>
            <a:endParaRPr/>
          </a:p>
        </p:txBody>
      </p:sp>
      <p:sp>
        <p:nvSpPr>
          <p:cNvPr id="104" name="Google Shape;104;p15"/>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pic>
        <p:nvPicPr>
          <p:cNvPr id="105" name="Google Shape;105;p15"/>
          <p:cNvPicPr preferRelativeResize="0"/>
          <p:nvPr/>
        </p:nvPicPr>
        <p:blipFill>
          <a:blip r:embed="rId3">
            <a:alphaModFix/>
          </a:blip>
          <a:stretch>
            <a:fillRect/>
          </a:stretch>
        </p:blipFill>
        <p:spPr>
          <a:xfrm>
            <a:off x="8988125" y="1503325"/>
            <a:ext cx="2646774" cy="3324399"/>
          </a:xfrm>
          <a:prstGeom prst="rect">
            <a:avLst/>
          </a:prstGeom>
          <a:noFill/>
          <a:ln>
            <a:noFill/>
          </a:ln>
        </p:spPr>
      </p:pic>
      <p:sp>
        <p:nvSpPr>
          <p:cNvPr id="106" name="Google Shape;106;p15"/>
          <p:cNvSpPr txBox="1"/>
          <p:nvPr/>
        </p:nvSpPr>
        <p:spPr>
          <a:xfrm>
            <a:off x="449450" y="1340575"/>
            <a:ext cx="8183100" cy="3795600"/>
          </a:xfrm>
          <a:prstGeom prst="rect">
            <a:avLst/>
          </a:prstGeom>
          <a:noFill/>
          <a:ln>
            <a:noFill/>
          </a:ln>
        </p:spPr>
        <p:txBody>
          <a:bodyPr spcFirstLastPara="1" wrap="square" lIns="91425" tIns="91425" rIns="91425" bIns="91425" anchor="t" anchorCtr="0">
            <a:spAutoFit/>
          </a:bodyPr>
          <a:lstStyle/>
          <a:p>
            <a:pPr marL="457200" marR="381000" lvl="0" indent="-374650" algn="l" rtl="0">
              <a:lnSpc>
                <a:spcPct val="115000"/>
              </a:lnSpc>
              <a:spcBef>
                <a:spcPts val="1200"/>
              </a:spcBef>
              <a:spcAft>
                <a:spcPts val="0"/>
              </a:spcAft>
              <a:buClr>
                <a:schemeClr val="dk1"/>
              </a:buClr>
              <a:buSzPts val="2300"/>
              <a:buFont typeface="Helvetica Neue Light"/>
              <a:buChar char="●"/>
            </a:pPr>
            <a:r>
              <a:rPr lang="en-US" sz="2300">
                <a:solidFill>
                  <a:schemeClr val="dk1"/>
                </a:solidFill>
                <a:latin typeface="Helvetica Neue Light"/>
                <a:ea typeface="Helvetica Neue Light"/>
                <a:cs typeface="Helvetica Neue Light"/>
                <a:sym typeface="Helvetica Neue Light"/>
              </a:rPr>
              <a:t>Technological progress happens when developers build on existing foundations instead of starting from scratch. </a:t>
            </a:r>
            <a:endParaRPr sz="2300">
              <a:solidFill>
                <a:schemeClr val="dk1"/>
              </a:solidFill>
              <a:latin typeface="Helvetica Neue Light"/>
              <a:ea typeface="Helvetica Neue Light"/>
              <a:cs typeface="Helvetica Neue Light"/>
              <a:sym typeface="Helvetica Neue Light"/>
            </a:endParaRPr>
          </a:p>
          <a:p>
            <a:pPr marL="457200" marR="381000" lvl="0" indent="-374650" algn="l" rtl="0">
              <a:lnSpc>
                <a:spcPct val="115000"/>
              </a:lnSpc>
              <a:spcBef>
                <a:spcPts val="0"/>
              </a:spcBef>
              <a:spcAft>
                <a:spcPts val="0"/>
              </a:spcAft>
              <a:buClr>
                <a:schemeClr val="dk1"/>
              </a:buClr>
              <a:buSzPts val="2300"/>
              <a:buFont typeface="Helvetica Neue Light"/>
              <a:buChar char="●"/>
            </a:pPr>
            <a:r>
              <a:rPr lang="en-US" sz="2300">
                <a:solidFill>
                  <a:schemeClr val="dk1"/>
                </a:solidFill>
                <a:latin typeface="Helvetica Neue Light"/>
                <a:ea typeface="Helvetica Neue Light"/>
                <a:cs typeface="Helvetica Neue Light"/>
                <a:sym typeface="Helvetica Neue Light"/>
              </a:rPr>
              <a:t>The knowledge gap discourages the use of blockchain in practical systems.</a:t>
            </a:r>
            <a:endParaRPr sz="2300">
              <a:solidFill>
                <a:schemeClr val="dk1"/>
              </a:solidFill>
              <a:latin typeface="Helvetica Neue Light"/>
              <a:ea typeface="Helvetica Neue Light"/>
              <a:cs typeface="Helvetica Neue Light"/>
              <a:sym typeface="Helvetica Neue Light"/>
            </a:endParaRPr>
          </a:p>
          <a:p>
            <a:pPr marL="457200" marR="381000" lvl="0" indent="-374650" algn="l" rtl="0">
              <a:lnSpc>
                <a:spcPct val="115000"/>
              </a:lnSpc>
              <a:spcBef>
                <a:spcPts val="0"/>
              </a:spcBef>
              <a:spcAft>
                <a:spcPts val="0"/>
              </a:spcAft>
              <a:buClr>
                <a:schemeClr val="dk1"/>
              </a:buClr>
              <a:buSzPts val="2300"/>
              <a:buFont typeface="Helvetica Neue Light"/>
              <a:buChar char="●"/>
            </a:pPr>
            <a:r>
              <a:rPr lang="en-US" sz="2300">
                <a:solidFill>
                  <a:schemeClr val="dk1"/>
                </a:solidFill>
                <a:latin typeface="Helvetica Neue Light"/>
                <a:ea typeface="Helvetica Neue Light"/>
                <a:cs typeface="Helvetica Neue Light"/>
                <a:sym typeface="Helvetica Neue Light"/>
              </a:rPr>
              <a:t>Our motivation is to lower the entry barrier and enable developers to use blockchain as an infrastructure component.</a:t>
            </a:r>
            <a:endParaRPr sz="2300">
              <a:solidFill>
                <a:schemeClr val="dk1"/>
              </a:solidFill>
              <a:latin typeface="Helvetica Neue Light"/>
              <a:ea typeface="Helvetica Neue Light"/>
              <a:cs typeface="Helvetica Neue Light"/>
              <a:sym typeface="Helvetica Neue Light"/>
            </a:endParaRPr>
          </a:p>
          <a:p>
            <a:pPr marL="457200" marR="381000" lvl="0" indent="-374650" algn="l" rtl="0">
              <a:lnSpc>
                <a:spcPct val="115000"/>
              </a:lnSpc>
              <a:spcBef>
                <a:spcPts val="0"/>
              </a:spcBef>
              <a:spcAft>
                <a:spcPts val="0"/>
              </a:spcAft>
              <a:buClr>
                <a:schemeClr val="dk1"/>
              </a:buClr>
              <a:buSzPts val="2300"/>
              <a:buFont typeface="Helvetica Neue Light"/>
              <a:buChar char="●"/>
            </a:pPr>
            <a:r>
              <a:rPr lang="en-US" sz="2300">
                <a:solidFill>
                  <a:schemeClr val="dk1"/>
                </a:solidFill>
                <a:latin typeface="Helvetica Neue Light"/>
                <a:ea typeface="Helvetica Neue Light"/>
                <a:cs typeface="Helvetica Neue Light"/>
                <a:sym typeface="Helvetica Neue Light"/>
              </a:rPr>
              <a:t>By simplifying blockchain creation, we aim to encourage innovation and real-world adoption.</a:t>
            </a:r>
            <a:endParaRPr sz="2300">
              <a:solidFill>
                <a:schemeClr val="dk1"/>
              </a:solidFill>
              <a:latin typeface="Helvetica Neue Light"/>
              <a:ea typeface="Helvetica Neue Light"/>
              <a:cs typeface="Helvetica Neue Light"/>
              <a:sym typeface="Helvetica Neue Light"/>
            </a:endParaRPr>
          </a:p>
        </p:txBody>
      </p:sp>
      <p:sp>
        <p:nvSpPr>
          <p:cNvPr id="107" name="Google Shape;107;p15"/>
          <p:cNvSpPr txBox="1"/>
          <p:nvPr/>
        </p:nvSpPr>
        <p:spPr>
          <a:xfrm>
            <a:off x="239125" y="215975"/>
            <a:ext cx="70014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300" b="1">
                <a:solidFill>
                  <a:schemeClr val="dk1"/>
                </a:solidFill>
                <a:latin typeface="Helvetica Neue"/>
                <a:ea typeface="Helvetica Neue"/>
                <a:cs typeface="Helvetica Neue"/>
                <a:sym typeface="Helvetica Neue"/>
              </a:rPr>
              <a:t>Motivation</a:t>
            </a:r>
            <a:endParaRPr sz="3300" b="1">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4</a:t>
            </a:fld>
            <a:endParaRPr/>
          </a:p>
        </p:txBody>
      </p:sp>
      <p:sp>
        <p:nvSpPr>
          <p:cNvPr id="113" name="Google Shape;113;p16"/>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14" name="Google Shape;114;p16"/>
          <p:cNvSpPr txBox="1"/>
          <p:nvPr/>
        </p:nvSpPr>
        <p:spPr>
          <a:xfrm>
            <a:off x="216975" y="224725"/>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Example Use Case: Certificate Verification System</a:t>
            </a:r>
            <a:endParaRPr sz="3200" b="1">
              <a:solidFill>
                <a:schemeClr val="dk1"/>
              </a:solidFill>
              <a:latin typeface="Helvetica Neue"/>
              <a:ea typeface="Helvetica Neue"/>
              <a:cs typeface="Helvetica Neue"/>
              <a:sym typeface="Helvetica Neue"/>
            </a:endParaRPr>
          </a:p>
        </p:txBody>
      </p:sp>
      <p:sp>
        <p:nvSpPr>
          <p:cNvPr id="115" name="Google Shape;115;p16"/>
          <p:cNvSpPr txBox="1"/>
          <p:nvPr/>
        </p:nvSpPr>
        <p:spPr>
          <a:xfrm>
            <a:off x="159382" y="1074275"/>
            <a:ext cx="4939593" cy="168607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800" b="1">
                <a:solidFill>
                  <a:schemeClr val="dk1"/>
                </a:solidFill>
              </a:rPr>
              <a:t>Stakeholders</a:t>
            </a:r>
            <a:endParaRPr sz="18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n-US" sz="1600" b="1">
                <a:solidFill>
                  <a:schemeClr val="dk1"/>
                </a:solidFill>
              </a:rPr>
              <a:t>University</a:t>
            </a:r>
            <a:r>
              <a:rPr lang="en-US" sz="1600">
                <a:solidFill>
                  <a:schemeClr val="dk1"/>
                </a:solidFill>
              </a:rPr>
              <a:t> → Issues certificates</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Student</a:t>
            </a:r>
            <a:r>
              <a:rPr lang="en-US" sz="1600">
                <a:solidFill>
                  <a:schemeClr val="dk1"/>
                </a:solidFill>
              </a:rPr>
              <a:t> → Receives certificate</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Company / Employer</a:t>
            </a:r>
            <a:r>
              <a:rPr lang="en-US" sz="1600">
                <a:solidFill>
                  <a:schemeClr val="dk1"/>
                </a:solidFill>
              </a:rPr>
              <a:t> → Verifies certificate</a:t>
            </a:r>
            <a:endParaRPr sz="3300">
              <a:solidFill>
                <a:schemeClr val="dk1"/>
              </a:solidFill>
              <a:latin typeface="Helvetica Neue Light"/>
              <a:ea typeface="Helvetica Neue Light"/>
              <a:cs typeface="Helvetica Neue Light"/>
              <a:sym typeface="Helvetica Neue Light"/>
            </a:endParaRPr>
          </a:p>
        </p:txBody>
      </p:sp>
      <p:sp>
        <p:nvSpPr>
          <p:cNvPr id="116" name="Google Shape;116;p16"/>
          <p:cNvSpPr txBox="1"/>
          <p:nvPr/>
        </p:nvSpPr>
        <p:spPr>
          <a:xfrm>
            <a:off x="5168675" y="1238100"/>
            <a:ext cx="6710700" cy="4381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800" b="1">
                <a:solidFill>
                  <a:schemeClr val="dk1"/>
                </a:solidFill>
                <a:latin typeface="Helvetica Neue"/>
                <a:ea typeface="Helvetica Neue"/>
                <a:cs typeface="Helvetica Neue"/>
                <a:sym typeface="Helvetica Neue"/>
              </a:rPr>
              <a:t>Smart Contracts:</a:t>
            </a:r>
            <a:endParaRPr sz="1800" b="1">
              <a:solidFill>
                <a:schemeClr val="dk1"/>
              </a:solidFill>
              <a:latin typeface="Helvetica Neue"/>
              <a:ea typeface="Helvetica Neue"/>
              <a:cs typeface="Helvetica Neue"/>
              <a:sym typeface="Helvetica Neue"/>
            </a:endParaRPr>
          </a:p>
          <a:p>
            <a:pPr marL="457200" lvl="0" indent="-342900" algn="l" rtl="0">
              <a:lnSpc>
                <a:spcPct val="150000"/>
              </a:lnSpc>
              <a:spcBef>
                <a:spcPts val="1400"/>
              </a:spcBef>
              <a:spcAft>
                <a:spcPts val="0"/>
              </a:spcAft>
              <a:buClr>
                <a:schemeClr val="dk1"/>
              </a:buClr>
              <a:buSzPts val="1800"/>
              <a:buAutoNum type="arabicPeriod"/>
            </a:pPr>
            <a:r>
              <a:rPr lang="en-US" sz="1800" b="1">
                <a:solidFill>
                  <a:schemeClr val="dk1"/>
                </a:solidFill>
              </a:rPr>
              <a:t> Issuer Authorization Contract</a:t>
            </a:r>
            <a:endParaRPr sz="1800" b="1">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Maintains list of approved universities</a:t>
            </a:r>
            <a:endParaRPr sz="1800">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Allows only them to append certificates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b="1">
                <a:solidFill>
                  <a:schemeClr val="dk1"/>
                </a:solidFill>
              </a:rPr>
              <a:t>Certificate Registry Contract</a:t>
            </a:r>
            <a:endParaRPr sz="1800" b="1">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Stores certificate hashes</a:t>
            </a:r>
            <a:endParaRPr sz="1800">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Tracks status (active / revoked)</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b="1">
                <a:solidFill>
                  <a:schemeClr val="dk1"/>
                </a:solidFill>
              </a:rPr>
              <a:t>Verification Contract</a:t>
            </a:r>
            <a:endParaRPr sz="1800" b="1">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Provides </a:t>
            </a:r>
            <a:r>
              <a:rPr lang="en-US" sz="1800">
                <a:solidFill>
                  <a:schemeClr val="dk1"/>
                </a:solidFill>
                <a:latin typeface="Roboto Mono"/>
                <a:ea typeface="Roboto Mono"/>
                <a:cs typeface="Roboto Mono"/>
                <a:sym typeface="Roboto Mono"/>
              </a:rPr>
              <a:t>verifyCertificate()</a:t>
            </a:r>
            <a:r>
              <a:rPr lang="en-US" sz="1800">
                <a:solidFill>
                  <a:schemeClr val="dk1"/>
                </a:solidFill>
              </a:rPr>
              <a:t> function</a:t>
            </a:r>
            <a:endParaRPr sz="1800">
              <a:solidFill>
                <a:schemeClr val="dk1"/>
              </a:solidFill>
            </a:endParaRPr>
          </a:p>
          <a:p>
            <a:pPr marL="914400" lvl="0" indent="-342900" algn="l" rtl="0">
              <a:lnSpc>
                <a:spcPct val="150000"/>
              </a:lnSpc>
              <a:spcBef>
                <a:spcPts val="0"/>
              </a:spcBef>
              <a:spcAft>
                <a:spcPts val="0"/>
              </a:spcAft>
              <a:buClr>
                <a:schemeClr val="dk1"/>
              </a:buClr>
              <a:buSzPts val="1800"/>
              <a:buChar char="●"/>
            </a:pPr>
            <a:r>
              <a:rPr lang="en-US" sz="1800">
                <a:solidFill>
                  <a:schemeClr val="dk1"/>
                </a:solidFill>
              </a:rPr>
              <a:t>Returns validity + proof</a:t>
            </a:r>
            <a:endParaRPr sz="1800">
              <a:solidFill>
                <a:schemeClr val="dk1"/>
              </a:solidFill>
              <a:latin typeface="Helvetica Neue Light"/>
              <a:ea typeface="Helvetica Neue Light"/>
              <a:cs typeface="Helvetica Neue Light"/>
              <a:sym typeface="Helvetica Neue Light"/>
            </a:endParaRPr>
          </a:p>
        </p:txBody>
      </p:sp>
      <p:sp>
        <p:nvSpPr>
          <p:cNvPr id="117" name="Google Shape;117;p16"/>
          <p:cNvSpPr txBox="1"/>
          <p:nvPr/>
        </p:nvSpPr>
        <p:spPr>
          <a:xfrm>
            <a:off x="309975" y="2828425"/>
            <a:ext cx="4719300" cy="2955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1"/>
                </a:solidFill>
                <a:latin typeface="Helvetica Neue"/>
                <a:ea typeface="Helvetica Neue"/>
                <a:cs typeface="Helvetica Neue"/>
                <a:sym typeface="Helvetica Neue"/>
              </a:rPr>
              <a:t>Blockchain Structure:</a:t>
            </a:r>
            <a:endParaRPr sz="1800" b="1">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sz="1800" b="1">
              <a:solidFill>
                <a:schemeClr val="dk1"/>
              </a:solidFill>
              <a:latin typeface="Helvetica Neue"/>
              <a:ea typeface="Helvetica Neue"/>
              <a:cs typeface="Helvetica Neue"/>
              <a:sym typeface="Helvetica Neue"/>
            </a:endParaRPr>
          </a:p>
          <a:p>
            <a:pPr marL="0" lvl="0" indent="0" algn="l" rtl="0">
              <a:spcBef>
                <a:spcPts val="0"/>
              </a:spcBef>
              <a:spcAft>
                <a:spcPts val="0"/>
              </a:spcAft>
              <a:buNone/>
            </a:pPr>
            <a:r>
              <a:rPr lang="en-US" sz="1800">
                <a:solidFill>
                  <a:schemeClr val="dk1"/>
                </a:solidFill>
                <a:latin typeface="Helvetica Neue Light"/>
                <a:ea typeface="Helvetica Neue Light"/>
                <a:cs typeface="Helvetica Neue Light"/>
                <a:sym typeface="Helvetica Neue Light"/>
              </a:rPr>
              <a:t>{</a:t>
            </a:r>
            <a:endParaRPr sz="1800">
              <a:solidFill>
                <a:schemeClr val="dk1"/>
              </a:solidFill>
              <a:latin typeface="Helvetica Neue Light"/>
              <a:ea typeface="Helvetica Neue Light"/>
              <a:cs typeface="Helvetica Neue Light"/>
              <a:sym typeface="Helvetica Neue Light"/>
            </a:endParaRPr>
          </a:p>
          <a:p>
            <a:pPr marL="0" lvl="0" indent="457200" algn="l" rtl="0">
              <a:spcBef>
                <a:spcPts val="0"/>
              </a:spcBef>
              <a:spcAft>
                <a:spcPts val="0"/>
              </a:spcAft>
              <a:buClr>
                <a:schemeClr val="dk1"/>
              </a:buClr>
              <a:buSzPts val="1100"/>
              <a:buFont typeface="Arial"/>
              <a:buNone/>
            </a:pPr>
            <a:r>
              <a:rPr lang="en-US" sz="1800" b="1">
                <a:solidFill>
                  <a:schemeClr val="dk1"/>
                </a:solidFill>
              </a:rPr>
              <a:t>Index</a:t>
            </a:r>
            <a:endParaRPr sz="1800">
              <a:solidFill>
                <a:schemeClr val="dk1"/>
              </a:solidFill>
            </a:endParaRPr>
          </a:p>
          <a:p>
            <a:pPr marL="457200" lvl="0" indent="0" algn="l" rtl="0">
              <a:spcBef>
                <a:spcPts val="0"/>
              </a:spcBef>
              <a:spcAft>
                <a:spcPts val="0"/>
              </a:spcAft>
              <a:buClr>
                <a:schemeClr val="dk1"/>
              </a:buClr>
              <a:buSzPts val="1100"/>
              <a:buFont typeface="Arial"/>
              <a:buNone/>
            </a:pPr>
            <a:r>
              <a:rPr lang="en-US" sz="1800" b="1">
                <a:solidFill>
                  <a:schemeClr val="dk1"/>
                </a:solidFill>
              </a:rPr>
              <a:t>Timestamp</a:t>
            </a:r>
            <a:r>
              <a:rPr lang="en-US" sz="1800">
                <a:solidFill>
                  <a:schemeClr val="dk1"/>
                </a:solidFill>
              </a:rPr>
              <a:t> </a:t>
            </a:r>
            <a:endParaRPr sz="1800">
              <a:solidFill>
                <a:schemeClr val="dk1"/>
              </a:solidFill>
            </a:endParaRPr>
          </a:p>
          <a:p>
            <a:pPr marL="457200" lvl="0" indent="0" algn="l" rtl="0">
              <a:spcBef>
                <a:spcPts val="0"/>
              </a:spcBef>
              <a:spcAft>
                <a:spcPts val="0"/>
              </a:spcAft>
              <a:buClr>
                <a:schemeClr val="dk1"/>
              </a:buClr>
              <a:buSzPts val="1100"/>
              <a:buFont typeface="Arial"/>
              <a:buNone/>
            </a:pPr>
            <a:r>
              <a:rPr lang="en-US" sz="1800" b="1">
                <a:solidFill>
                  <a:schemeClr val="dk1"/>
                </a:solidFill>
              </a:rPr>
              <a:t>Event Data</a:t>
            </a:r>
            <a:endParaRPr sz="1800">
              <a:solidFill>
                <a:schemeClr val="dk1"/>
              </a:solidFill>
            </a:endParaRPr>
          </a:p>
          <a:p>
            <a:pPr marL="457200" lvl="0" indent="0" algn="l" rtl="0">
              <a:spcBef>
                <a:spcPts val="0"/>
              </a:spcBef>
              <a:spcAft>
                <a:spcPts val="0"/>
              </a:spcAft>
              <a:buNone/>
            </a:pPr>
            <a:r>
              <a:rPr lang="en-US" sz="1800" b="1">
                <a:solidFill>
                  <a:schemeClr val="dk1"/>
                </a:solidFill>
              </a:rPr>
              <a:t>Previous Hash</a:t>
            </a:r>
            <a:r>
              <a:rPr lang="en-US" sz="1800">
                <a:solidFill>
                  <a:schemeClr val="dk1"/>
                </a:solidFill>
              </a:rPr>
              <a:t> </a:t>
            </a:r>
            <a:endParaRPr sz="1800">
              <a:solidFill>
                <a:schemeClr val="dk1"/>
              </a:solidFill>
            </a:endParaRPr>
          </a:p>
          <a:p>
            <a:pPr marL="457200" lvl="0" indent="0" algn="l" rtl="0">
              <a:spcBef>
                <a:spcPts val="0"/>
              </a:spcBef>
              <a:spcAft>
                <a:spcPts val="0"/>
              </a:spcAft>
              <a:buNone/>
            </a:pPr>
            <a:r>
              <a:rPr lang="en-US" sz="1800" b="1">
                <a:solidFill>
                  <a:schemeClr val="dk1"/>
                </a:solidFill>
              </a:rPr>
              <a:t>Current Hash</a:t>
            </a:r>
            <a:r>
              <a:rPr lang="en-US" sz="1800">
                <a:solidFill>
                  <a:schemeClr val="dk1"/>
                </a:solidFill>
              </a:rPr>
              <a:t> </a:t>
            </a:r>
            <a:endParaRPr sz="1800">
              <a:solidFill>
                <a:schemeClr val="dk1"/>
              </a:solidFill>
            </a:endParaRPr>
          </a:p>
          <a:p>
            <a:pPr marL="457200" lvl="0" indent="0" algn="l" rtl="0">
              <a:spcBef>
                <a:spcPts val="0"/>
              </a:spcBef>
              <a:spcAft>
                <a:spcPts val="0"/>
              </a:spcAft>
              <a:buNone/>
            </a:pPr>
            <a:r>
              <a:rPr lang="en-US" sz="1800" b="1">
                <a:solidFill>
                  <a:schemeClr val="dk1"/>
                </a:solidFill>
              </a:rPr>
              <a:t>Issuer ID</a:t>
            </a:r>
            <a:r>
              <a:rPr lang="en-US" sz="1800">
                <a:solidFill>
                  <a:schemeClr val="dk1"/>
                </a:solidFill>
              </a:rPr>
              <a:t> </a:t>
            </a:r>
            <a:endParaRPr sz="1800">
              <a:solidFill>
                <a:schemeClr val="dk1"/>
              </a:solidFill>
            </a:endParaRPr>
          </a:p>
          <a:p>
            <a:pPr marL="0" lvl="0" indent="0" algn="l" rtl="0">
              <a:spcBef>
                <a:spcPts val="0"/>
              </a:spcBef>
              <a:spcAft>
                <a:spcPts val="0"/>
              </a:spcAft>
              <a:buNone/>
            </a:pPr>
            <a:r>
              <a:rPr lang="en-US" sz="1800">
                <a:solidFill>
                  <a:schemeClr val="dk1"/>
                </a:solidFill>
              </a:rPr>
              <a:t>}</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7"/>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5</a:t>
            </a:fld>
            <a:endParaRPr/>
          </a:p>
        </p:txBody>
      </p:sp>
      <p:sp>
        <p:nvSpPr>
          <p:cNvPr id="123" name="Google Shape;123;p17"/>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24" name="Google Shape;124;p17"/>
          <p:cNvSpPr txBox="1"/>
          <p:nvPr/>
        </p:nvSpPr>
        <p:spPr>
          <a:xfrm>
            <a:off x="258650" y="0"/>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Example Use Case: Certificate Verification System</a:t>
            </a:r>
            <a:endParaRPr sz="3200" b="1">
              <a:solidFill>
                <a:schemeClr val="dk1"/>
              </a:solidFill>
              <a:latin typeface="Helvetica Neue"/>
              <a:ea typeface="Helvetica Neue"/>
              <a:cs typeface="Helvetica Neue"/>
              <a:sym typeface="Helvetica Neue"/>
            </a:endParaRPr>
          </a:p>
        </p:txBody>
      </p:sp>
      <p:sp>
        <p:nvSpPr>
          <p:cNvPr id="125" name="Google Shape;125;p17"/>
          <p:cNvSpPr txBox="1"/>
          <p:nvPr/>
        </p:nvSpPr>
        <p:spPr>
          <a:xfrm>
            <a:off x="136950" y="2540775"/>
            <a:ext cx="11918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User’s Logical flow</a:t>
            </a:r>
            <a:endParaRPr sz="2800">
              <a:solidFill>
                <a:schemeClr val="dk1"/>
              </a:solidFill>
              <a:latin typeface="Helvetica Neue Light"/>
              <a:ea typeface="Helvetica Neue Light"/>
              <a:cs typeface="Helvetica Neue Light"/>
              <a:sym typeface="Helvetica Neue Light"/>
            </a:endParaRPr>
          </a:p>
        </p:txBody>
      </p:sp>
      <p:pic>
        <p:nvPicPr>
          <p:cNvPr id="126" name="Google Shape;126;p17"/>
          <p:cNvPicPr preferRelativeResize="0"/>
          <p:nvPr/>
        </p:nvPicPr>
        <p:blipFill>
          <a:blip r:embed="rId3">
            <a:alphaModFix/>
          </a:blip>
          <a:stretch>
            <a:fillRect/>
          </a:stretch>
        </p:blipFill>
        <p:spPr>
          <a:xfrm>
            <a:off x="274100" y="1709827"/>
            <a:ext cx="11887201" cy="487561"/>
          </a:xfrm>
          <a:prstGeom prst="rect">
            <a:avLst/>
          </a:prstGeom>
          <a:noFill/>
          <a:ln>
            <a:noFill/>
          </a:ln>
        </p:spPr>
      </p:pic>
      <p:sp>
        <p:nvSpPr>
          <p:cNvPr id="127" name="Google Shape;127;p17"/>
          <p:cNvSpPr txBox="1"/>
          <p:nvPr/>
        </p:nvSpPr>
        <p:spPr>
          <a:xfrm>
            <a:off x="136950" y="970813"/>
            <a:ext cx="11918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Developer’s Logical flow</a:t>
            </a:r>
            <a:endParaRPr sz="2800">
              <a:solidFill>
                <a:schemeClr val="dk1"/>
              </a:solidFill>
              <a:latin typeface="Helvetica Neue Light"/>
              <a:ea typeface="Helvetica Neue Light"/>
              <a:cs typeface="Helvetica Neue Light"/>
              <a:sym typeface="Helvetica Neue Light"/>
            </a:endParaRPr>
          </a:p>
        </p:txBody>
      </p:sp>
      <p:pic>
        <p:nvPicPr>
          <p:cNvPr id="128" name="Google Shape;128;p17"/>
          <p:cNvPicPr preferRelativeResize="0"/>
          <p:nvPr/>
        </p:nvPicPr>
        <p:blipFill>
          <a:blip r:embed="rId4">
            <a:alphaModFix/>
          </a:blip>
          <a:stretch>
            <a:fillRect/>
          </a:stretch>
        </p:blipFill>
        <p:spPr>
          <a:xfrm>
            <a:off x="152400" y="3260716"/>
            <a:ext cx="11887201" cy="24741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6</a:t>
            </a:fld>
            <a:endParaRPr/>
          </a:p>
        </p:txBody>
      </p:sp>
      <p:sp>
        <p:nvSpPr>
          <p:cNvPr id="134" name="Google Shape;134;p18"/>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35" name="Google Shape;135;p18"/>
          <p:cNvSpPr txBox="1"/>
          <p:nvPr/>
        </p:nvSpPr>
        <p:spPr>
          <a:xfrm>
            <a:off x="330600" y="0"/>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General System Architecture</a:t>
            </a:r>
            <a:endParaRPr sz="3200" b="1">
              <a:solidFill>
                <a:schemeClr val="dk1"/>
              </a:solidFill>
              <a:latin typeface="Helvetica Neue"/>
              <a:ea typeface="Helvetica Neue"/>
              <a:cs typeface="Helvetica Neue"/>
              <a:sym typeface="Helvetica Neue"/>
            </a:endParaRPr>
          </a:p>
        </p:txBody>
      </p:sp>
      <p:sp>
        <p:nvSpPr>
          <p:cNvPr id="136" name="Google Shape;136;p18"/>
          <p:cNvSpPr txBox="1"/>
          <p:nvPr/>
        </p:nvSpPr>
        <p:spPr>
          <a:xfrm>
            <a:off x="258650" y="646500"/>
            <a:ext cx="11918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Architecture</a:t>
            </a:r>
            <a:endParaRPr sz="2800">
              <a:solidFill>
                <a:schemeClr val="dk1"/>
              </a:solidFill>
              <a:latin typeface="Helvetica Neue Light"/>
              <a:ea typeface="Helvetica Neue Light"/>
              <a:cs typeface="Helvetica Neue Light"/>
              <a:sym typeface="Helvetica Neue Light"/>
            </a:endParaRPr>
          </a:p>
        </p:txBody>
      </p:sp>
      <p:pic>
        <p:nvPicPr>
          <p:cNvPr id="137" name="Google Shape;137;p18"/>
          <p:cNvPicPr preferRelativeResize="0"/>
          <p:nvPr/>
        </p:nvPicPr>
        <p:blipFill>
          <a:blip r:embed="rId3">
            <a:alphaModFix/>
          </a:blip>
          <a:stretch>
            <a:fillRect/>
          </a:stretch>
        </p:blipFill>
        <p:spPr>
          <a:xfrm>
            <a:off x="1867300" y="1262100"/>
            <a:ext cx="8457383" cy="471777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7</a:t>
            </a:fld>
            <a:endParaRPr/>
          </a:p>
        </p:txBody>
      </p:sp>
      <p:sp>
        <p:nvSpPr>
          <p:cNvPr id="143" name="Google Shape;143;p19"/>
          <p:cNvSpPr txBox="1"/>
          <p:nvPr/>
        </p:nvSpPr>
        <p:spPr>
          <a:xfrm>
            <a:off x="330600" y="200525"/>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Technologies and Tools</a:t>
            </a:r>
            <a:endParaRPr sz="3200" b="1">
              <a:solidFill>
                <a:schemeClr val="dk1"/>
              </a:solidFill>
              <a:latin typeface="Helvetica Neue"/>
              <a:ea typeface="Helvetica Neue"/>
              <a:cs typeface="Helvetica Neue"/>
              <a:sym typeface="Helvetica Neue"/>
            </a:endParaRPr>
          </a:p>
        </p:txBody>
      </p:sp>
      <p:pic>
        <p:nvPicPr>
          <p:cNvPr id="144" name="Google Shape;144;p19"/>
          <p:cNvPicPr preferRelativeResize="0"/>
          <p:nvPr/>
        </p:nvPicPr>
        <p:blipFill rotWithShape="1">
          <a:blip r:embed="rId3">
            <a:alphaModFix/>
          </a:blip>
          <a:srcRect r="79453"/>
          <a:stretch/>
        </p:blipFill>
        <p:spPr>
          <a:xfrm>
            <a:off x="7440643" y="963048"/>
            <a:ext cx="1263824" cy="1510176"/>
          </a:xfrm>
          <a:prstGeom prst="rect">
            <a:avLst/>
          </a:prstGeom>
          <a:noFill/>
          <a:ln>
            <a:noFill/>
          </a:ln>
        </p:spPr>
      </p:pic>
      <p:pic>
        <p:nvPicPr>
          <p:cNvPr id="145" name="Google Shape;145;p19"/>
          <p:cNvPicPr preferRelativeResize="0"/>
          <p:nvPr/>
        </p:nvPicPr>
        <p:blipFill>
          <a:blip r:embed="rId4">
            <a:alphaModFix/>
          </a:blip>
          <a:stretch>
            <a:fillRect/>
          </a:stretch>
        </p:blipFill>
        <p:spPr>
          <a:xfrm>
            <a:off x="1193691" y="4891562"/>
            <a:ext cx="1140860" cy="1140860"/>
          </a:xfrm>
          <a:prstGeom prst="rect">
            <a:avLst/>
          </a:prstGeom>
          <a:noFill/>
          <a:ln>
            <a:noFill/>
          </a:ln>
        </p:spPr>
      </p:pic>
      <p:sp>
        <p:nvSpPr>
          <p:cNvPr id="146" name="Google Shape;146;p19"/>
          <p:cNvSpPr txBox="1"/>
          <p:nvPr/>
        </p:nvSpPr>
        <p:spPr>
          <a:xfrm>
            <a:off x="1140881" y="6032413"/>
            <a:ext cx="2119800" cy="315600"/>
          </a:xfrm>
          <a:prstGeom prst="rect">
            <a:avLst/>
          </a:prstGeom>
          <a:noFill/>
          <a:ln>
            <a:noFill/>
          </a:ln>
        </p:spPr>
        <p:txBody>
          <a:bodyPr spcFirstLastPara="1" wrap="square" lIns="138225" tIns="138225" rIns="138225" bIns="138225" anchor="t" anchorCtr="0">
            <a:noAutofit/>
          </a:bodyPr>
          <a:lstStyle/>
          <a:p>
            <a:pPr marL="0" lvl="0" indent="0" algn="l" rtl="0">
              <a:spcBef>
                <a:spcPts val="0"/>
              </a:spcBef>
              <a:spcAft>
                <a:spcPts val="0"/>
              </a:spcAft>
              <a:buNone/>
            </a:pPr>
            <a:r>
              <a:rPr lang="en-US" sz="2268">
                <a:solidFill>
                  <a:schemeClr val="dk1"/>
                </a:solidFill>
                <a:highlight>
                  <a:schemeClr val="lt1"/>
                </a:highlight>
                <a:latin typeface="Helvetica Neue Light"/>
                <a:ea typeface="Helvetica Neue Light"/>
                <a:cs typeface="Helvetica Neue Light"/>
                <a:sym typeface="Helvetica Neue Light"/>
              </a:rPr>
              <a:t>SHA-256</a:t>
            </a:r>
            <a:endParaRPr sz="2268">
              <a:solidFill>
                <a:schemeClr val="dk1"/>
              </a:solidFill>
              <a:highlight>
                <a:schemeClr val="lt1"/>
              </a:highlight>
              <a:latin typeface="Helvetica Neue Light"/>
              <a:ea typeface="Helvetica Neue Light"/>
              <a:cs typeface="Helvetica Neue Light"/>
              <a:sym typeface="Helvetica Neue Light"/>
            </a:endParaRPr>
          </a:p>
        </p:txBody>
      </p:sp>
      <p:pic>
        <p:nvPicPr>
          <p:cNvPr id="147" name="Google Shape;147;p19"/>
          <p:cNvPicPr preferRelativeResize="0"/>
          <p:nvPr/>
        </p:nvPicPr>
        <p:blipFill rotWithShape="1">
          <a:blip r:embed="rId5">
            <a:alphaModFix/>
          </a:blip>
          <a:srcRect l="18265" r="17914"/>
          <a:stretch/>
        </p:blipFill>
        <p:spPr>
          <a:xfrm>
            <a:off x="6526318" y="5074349"/>
            <a:ext cx="1457782" cy="1284898"/>
          </a:xfrm>
          <a:prstGeom prst="rect">
            <a:avLst/>
          </a:prstGeom>
          <a:noFill/>
          <a:ln>
            <a:noFill/>
          </a:ln>
        </p:spPr>
      </p:pic>
      <p:pic>
        <p:nvPicPr>
          <p:cNvPr id="148" name="Google Shape;148;p19"/>
          <p:cNvPicPr preferRelativeResize="0"/>
          <p:nvPr/>
        </p:nvPicPr>
        <p:blipFill>
          <a:blip r:embed="rId6">
            <a:alphaModFix/>
          </a:blip>
          <a:stretch>
            <a:fillRect/>
          </a:stretch>
        </p:blipFill>
        <p:spPr>
          <a:xfrm>
            <a:off x="4036813" y="5024181"/>
            <a:ext cx="1385235" cy="1385235"/>
          </a:xfrm>
          <a:prstGeom prst="rect">
            <a:avLst/>
          </a:prstGeom>
          <a:noFill/>
          <a:ln>
            <a:noFill/>
          </a:ln>
        </p:spPr>
      </p:pic>
      <p:pic>
        <p:nvPicPr>
          <p:cNvPr id="149" name="Google Shape;149;p19"/>
          <p:cNvPicPr preferRelativeResize="0"/>
          <p:nvPr/>
        </p:nvPicPr>
        <p:blipFill>
          <a:blip r:embed="rId7">
            <a:alphaModFix/>
          </a:blip>
          <a:stretch>
            <a:fillRect/>
          </a:stretch>
        </p:blipFill>
        <p:spPr>
          <a:xfrm>
            <a:off x="3085452" y="1081062"/>
            <a:ext cx="1760883" cy="323213"/>
          </a:xfrm>
          <a:prstGeom prst="rect">
            <a:avLst/>
          </a:prstGeom>
          <a:noFill/>
          <a:ln>
            <a:noFill/>
          </a:ln>
        </p:spPr>
      </p:pic>
      <p:pic>
        <p:nvPicPr>
          <p:cNvPr id="150" name="Google Shape;150;p19"/>
          <p:cNvPicPr preferRelativeResize="0"/>
          <p:nvPr/>
        </p:nvPicPr>
        <p:blipFill>
          <a:blip r:embed="rId8">
            <a:alphaModFix/>
          </a:blip>
          <a:stretch>
            <a:fillRect/>
          </a:stretch>
        </p:blipFill>
        <p:spPr>
          <a:xfrm>
            <a:off x="946777" y="1817617"/>
            <a:ext cx="1760874" cy="1100572"/>
          </a:xfrm>
          <a:prstGeom prst="rect">
            <a:avLst/>
          </a:prstGeom>
          <a:noFill/>
          <a:ln>
            <a:noFill/>
          </a:ln>
        </p:spPr>
      </p:pic>
      <p:pic>
        <p:nvPicPr>
          <p:cNvPr id="151" name="Google Shape;151;p19"/>
          <p:cNvPicPr preferRelativeResize="0"/>
          <p:nvPr/>
        </p:nvPicPr>
        <p:blipFill>
          <a:blip r:embed="rId9">
            <a:alphaModFix/>
          </a:blip>
          <a:stretch>
            <a:fillRect/>
          </a:stretch>
        </p:blipFill>
        <p:spPr>
          <a:xfrm>
            <a:off x="3808450" y="1492688"/>
            <a:ext cx="992700" cy="992700"/>
          </a:xfrm>
          <a:prstGeom prst="rect">
            <a:avLst/>
          </a:prstGeom>
          <a:noFill/>
          <a:ln>
            <a:noFill/>
          </a:ln>
        </p:spPr>
      </p:pic>
      <p:pic>
        <p:nvPicPr>
          <p:cNvPr id="152" name="Google Shape;152;p19"/>
          <p:cNvPicPr preferRelativeResize="0"/>
          <p:nvPr/>
        </p:nvPicPr>
        <p:blipFill>
          <a:blip r:embed="rId10">
            <a:alphaModFix/>
          </a:blip>
          <a:stretch>
            <a:fillRect/>
          </a:stretch>
        </p:blipFill>
        <p:spPr>
          <a:xfrm>
            <a:off x="10764830" y="980112"/>
            <a:ext cx="1263826" cy="1405184"/>
          </a:xfrm>
          <a:prstGeom prst="rect">
            <a:avLst/>
          </a:prstGeom>
          <a:noFill/>
          <a:ln>
            <a:noFill/>
          </a:ln>
        </p:spPr>
      </p:pic>
      <p:sp>
        <p:nvSpPr>
          <p:cNvPr id="153" name="Google Shape;153;p19"/>
          <p:cNvSpPr/>
          <p:nvPr/>
        </p:nvSpPr>
        <p:spPr>
          <a:xfrm rot="-711077">
            <a:off x="9460411" y="3514185"/>
            <a:ext cx="2416102" cy="103319"/>
          </a:xfrm>
          <a:prstGeom prst="roundRect">
            <a:avLst>
              <a:gd name="adj" fmla="val 50000"/>
            </a:avLst>
          </a:prstGeom>
          <a:solidFill>
            <a:srgbClr val="D9D9D9"/>
          </a:solidFill>
          <a:ln>
            <a:noFill/>
          </a:ln>
        </p:spPr>
        <p:txBody>
          <a:bodyPr spcFirstLastPara="1" wrap="square" lIns="163500" tIns="163500" rIns="163500" bIns="163500" anchor="ctr" anchorCtr="0">
            <a:noAutofit/>
          </a:bodyPr>
          <a:lstStyle/>
          <a:p>
            <a:pPr marL="0" lvl="0" indent="0" algn="l" rtl="0">
              <a:spcBef>
                <a:spcPts val="0"/>
              </a:spcBef>
              <a:spcAft>
                <a:spcPts val="0"/>
              </a:spcAft>
              <a:buNone/>
            </a:pPr>
            <a:endParaRPr/>
          </a:p>
        </p:txBody>
      </p:sp>
      <p:sp>
        <p:nvSpPr>
          <p:cNvPr id="154" name="Google Shape;154;p19"/>
          <p:cNvSpPr/>
          <p:nvPr/>
        </p:nvSpPr>
        <p:spPr>
          <a:xfrm rot="711077" flipH="1">
            <a:off x="7162794" y="3514185"/>
            <a:ext cx="2416102" cy="103319"/>
          </a:xfrm>
          <a:prstGeom prst="roundRect">
            <a:avLst>
              <a:gd name="adj" fmla="val 50000"/>
            </a:avLst>
          </a:prstGeom>
          <a:solidFill>
            <a:srgbClr val="D9D9D9"/>
          </a:solidFill>
          <a:ln>
            <a:noFill/>
          </a:ln>
        </p:spPr>
        <p:txBody>
          <a:bodyPr spcFirstLastPara="1" wrap="square" lIns="163500" tIns="163500" rIns="163500" bIns="163500" anchor="ctr" anchorCtr="0">
            <a:noAutofit/>
          </a:bodyPr>
          <a:lstStyle/>
          <a:p>
            <a:pPr marL="0" lvl="0" indent="0" algn="l" rtl="0">
              <a:spcBef>
                <a:spcPts val="0"/>
              </a:spcBef>
              <a:spcAft>
                <a:spcPts val="0"/>
              </a:spcAft>
              <a:buNone/>
            </a:pPr>
            <a:endParaRPr/>
          </a:p>
        </p:txBody>
      </p:sp>
      <p:sp>
        <p:nvSpPr>
          <p:cNvPr id="155" name="Google Shape;155;p19"/>
          <p:cNvSpPr/>
          <p:nvPr/>
        </p:nvSpPr>
        <p:spPr>
          <a:xfrm rot="-711077">
            <a:off x="4871486" y="3514185"/>
            <a:ext cx="2416102" cy="103319"/>
          </a:xfrm>
          <a:prstGeom prst="roundRect">
            <a:avLst>
              <a:gd name="adj" fmla="val 50000"/>
            </a:avLst>
          </a:prstGeom>
          <a:solidFill>
            <a:srgbClr val="D9D9D9"/>
          </a:solidFill>
          <a:ln>
            <a:noFill/>
          </a:ln>
        </p:spPr>
        <p:txBody>
          <a:bodyPr spcFirstLastPara="1" wrap="square" lIns="163500" tIns="163500" rIns="163500" bIns="163500" anchor="ctr" anchorCtr="0">
            <a:noAutofit/>
          </a:bodyPr>
          <a:lstStyle/>
          <a:p>
            <a:pPr marL="0" lvl="0" indent="0" algn="l" rtl="0">
              <a:spcBef>
                <a:spcPts val="0"/>
              </a:spcBef>
              <a:spcAft>
                <a:spcPts val="0"/>
              </a:spcAft>
              <a:buNone/>
            </a:pPr>
            <a:endParaRPr/>
          </a:p>
        </p:txBody>
      </p:sp>
      <p:sp>
        <p:nvSpPr>
          <p:cNvPr id="156" name="Google Shape;156;p19"/>
          <p:cNvSpPr/>
          <p:nvPr/>
        </p:nvSpPr>
        <p:spPr>
          <a:xfrm rot="711077" flipH="1">
            <a:off x="2561454" y="3514185"/>
            <a:ext cx="2416102" cy="103319"/>
          </a:xfrm>
          <a:prstGeom prst="roundRect">
            <a:avLst>
              <a:gd name="adj" fmla="val 50000"/>
            </a:avLst>
          </a:prstGeom>
          <a:solidFill>
            <a:srgbClr val="701C7F"/>
          </a:solidFill>
          <a:ln>
            <a:noFill/>
          </a:ln>
        </p:spPr>
        <p:txBody>
          <a:bodyPr spcFirstLastPara="1" wrap="square" lIns="163500" tIns="163500" rIns="163500" bIns="163500" anchor="ctr" anchorCtr="0">
            <a:noAutofit/>
          </a:bodyPr>
          <a:lstStyle/>
          <a:p>
            <a:pPr marL="0" lvl="0" indent="0" algn="l" rtl="0">
              <a:spcBef>
                <a:spcPts val="0"/>
              </a:spcBef>
              <a:spcAft>
                <a:spcPts val="0"/>
              </a:spcAft>
              <a:buNone/>
            </a:pPr>
            <a:endParaRPr/>
          </a:p>
        </p:txBody>
      </p:sp>
      <p:sp>
        <p:nvSpPr>
          <p:cNvPr id="157" name="Google Shape;157;p19"/>
          <p:cNvSpPr/>
          <p:nvPr/>
        </p:nvSpPr>
        <p:spPr>
          <a:xfrm rot="-711077">
            <a:off x="282574" y="3514185"/>
            <a:ext cx="2416102" cy="103319"/>
          </a:xfrm>
          <a:prstGeom prst="roundRect">
            <a:avLst>
              <a:gd name="adj" fmla="val 50000"/>
            </a:avLst>
          </a:prstGeom>
          <a:solidFill>
            <a:srgbClr val="701C7F"/>
          </a:solidFill>
          <a:ln>
            <a:noFill/>
          </a:ln>
        </p:spPr>
        <p:txBody>
          <a:bodyPr spcFirstLastPara="1" wrap="square" lIns="163500" tIns="163500" rIns="163500" bIns="163500" anchor="ctr" anchorCtr="0">
            <a:noAutofit/>
          </a:bodyPr>
          <a:lstStyle/>
          <a:p>
            <a:pPr marL="0" lvl="0" indent="0" algn="l" rtl="0">
              <a:spcBef>
                <a:spcPts val="0"/>
              </a:spcBef>
              <a:spcAft>
                <a:spcPts val="0"/>
              </a:spcAft>
              <a:buNone/>
            </a:pPr>
            <a:endParaRPr/>
          </a:p>
        </p:txBody>
      </p:sp>
      <p:sp>
        <p:nvSpPr>
          <p:cNvPr id="158" name="Google Shape;158;p19"/>
          <p:cNvSpPr/>
          <p:nvPr/>
        </p:nvSpPr>
        <p:spPr>
          <a:xfrm>
            <a:off x="330600" y="807500"/>
            <a:ext cx="49566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59" name="Google Shape;159;p19"/>
          <p:cNvSpPr txBox="1"/>
          <p:nvPr/>
        </p:nvSpPr>
        <p:spPr>
          <a:xfrm>
            <a:off x="748275" y="916100"/>
            <a:ext cx="2157900" cy="195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Helvetica Neue Light"/>
                <a:ea typeface="Helvetica Neue Light"/>
                <a:cs typeface="Helvetica Neue Light"/>
                <a:sym typeface="Helvetica Neue Light"/>
              </a:rPr>
              <a:t>Frameworks &amp; </a:t>
            </a:r>
            <a:endParaRPr sz="23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2300">
                <a:solidFill>
                  <a:schemeClr val="dk1"/>
                </a:solidFill>
                <a:latin typeface="Helvetica Neue Light"/>
                <a:ea typeface="Helvetica Neue Light"/>
                <a:cs typeface="Helvetica Neue Light"/>
                <a:sym typeface="Helvetica Neue Light"/>
              </a:rPr>
              <a:t>Libraries</a:t>
            </a:r>
            <a:endParaRPr sz="2300">
              <a:solidFill>
                <a:schemeClr val="dk1"/>
              </a:solidFill>
              <a:latin typeface="Helvetica Neue Light"/>
              <a:ea typeface="Helvetica Neue Light"/>
              <a:cs typeface="Helvetica Neue Light"/>
              <a:sym typeface="Helvetica Neue Light"/>
            </a:endParaRPr>
          </a:p>
        </p:txBody>
      </p:sp>
      <p:sp>
        <p:nvSpPr>
          <p:cNvPr id="160" name="Google Shape;160;p19"/>
          <p:cNvSpPr/>
          <p:nvPr/>
        </p:nvSpPr>
        <p:spPr>
          <a:xfrm>
            <a:off x="5326139" y="772700"/>
            <a:ext cx="37335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61" name="Google Shape;161;p19"/>
          <p:cNvSpPr txBox="1"/>
          <p:nvPr/>
        </p:nvSpPr>
        <p:spPr>
          <a:xfrm>
            <a:off x="5630075" y="1098100"/>
            <a:ext cx="1977900" cy="166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Helvetica Neue Light"/>
                <a:ea typeface="Helvetica Neue Light"/>
                <a:cs typeface="Helvetica Neue Light"/>
                <a:sym typeface="Helvetica Neue Light"/>
              </a:rPr>
              <a:t>Development Programming language</a:t>
            </a:r>
            <a:endParaRPr sz="1100">
              <a:solidFill>
                <a:schemeClr val="dk1"/>
              </a:solidFill>
              <a:latin typeface="Helvetica Neue Light"/>
              <a:ea typeface="Helvetica Neue Light"/>
              <a:cs typeface="Helvetica Neue Light"/>
              <a:sym typeface="Helvetica Neue Light"/>
            </a:endParaRPr>
          </a:p>
        </p:txBody>
      </p:sp>
      <p:sp>
        <p:nvSpPr>
          <p:cNvPr id="162" name="Google Shape;162;p19"/>
          <p:cNvSpPr/>
          <p:nvPr/>
        </p:nvSpPr>
        <p:spPr>
          <a:xfrm>
            <a:off x="9098598" y="772700"/>
            <a:ext cx="29826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63" name="Google Shape;163;p19"/>
          <p:cNvSpPr txBox="1"/>
          <p:nvPr/>
        </p:nvSpPr>
        <p:spPr>
          <a:xfrm>
            <a:off x="9289125" y="1098100"/>
            <a:ext cx="1977900" cy="166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Helvetica Neue Light"/>
                <a:ea typeface="Helvetica Neue Light"/>
                <a:cs typeface="Helvetica Neue Light"/>
                <a:sym typeface="Helvetica Neue Light"/>
              </a:rPr>
              <a:t>Database</a:t>
            </a:r>
            <a:endParaRPr sz="1100">
              <a:solidFill>
                <a:schemeClr val="dk1"/>
              </a:solidFill>
              <a:latin typeface="Helvetica Neue Light"/>
              <a:ea typeface="Helvetica Neue Light"/>
              <a:cs typeface="Helvetica Neue Light"/>
              <a:sym typeface="Helvetica Neue Light"/>
            </a:endParaRPr>
          </a:p>
        </p:txBody>
      </p:sp>
      <p:sp>
        <p:nvSpPr>
          <p:cNvPr id="164" name="Google Shape;164;p19"/>
          <p:cNvSpPr/>
          <p:nvPr/>
        </p:nvSpPr>
        <p:spPr>
          <a:xfrm>
            <a:off x="3505651" y="4085975"/>
            <a:ext cx="47025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65" name="Google Shape;165;p19"/>
          <p:cNvSpPr txBox="1"/>
          <p:nvPr/>
        </p:nvSpPr>
        <p:spPr>
          <a:xfrm>
            <a:off x="4032000" y="4176975"/>
            <a:ext cx="4198200" cy="39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Version Control &amp; Scalability </a:t>
            </a:r>
            <a:endParaRPr sz="2800">
              <a:solidFill>
                <a:schemeClr val="dk1"/>
              </a:solidFill>
              <a:latin typeface="Helvetica Neue Light"/>
              <a:ea typeface="Helvetica Neue Light"/>
              <a:cs typeface="Helvetica Neue Light"/>
              <a:sym typeface="Helvetica Neue Light"/>
            </a:endParaRPr>
          </a:p>
        </p:txBody>
      </p:sp>
      <p:sp>
        <p:nvSpPr>
          <p:cNvPr id="166" name="Google Shape;166;p19"/>
          <p:cNvSpPr/>
          <p:nvPr/>
        </p:nvSpPr>
        <p:spPr>
          <a:xfrm>
            <a:off x="436548" y="4176975"/>
            <a:ext cx="29826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67" name="Google Shape;167;p19"/>
          <p:cNvSpPr txBox="1"/>
          <p:nvPr/>
        </p:nvSpPr>
        <p:spPr>
          <a:xfrm>
            <a:off x="655250" y="4295350"/>
            <a:ext cx="25653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Hashing</a:t>
            </a:r>
            <a:endParaRPr sz="2800">
              <a:solidFill>
                <a:schemeClr val="dk1"/>
              </a:solidFill>
              <a:latin typeface="Helvetica Neue Light"/>
              <a:ea typeface="Helvetica Neue Light"/>
              <a:cs typeface="Helvetica Neue Light"/>
              <a:sym typeface="Helvetica Neue Light"/>
            </a:endParaRPr>
          </a:p>
        </p:txBody>
      </p:sp>
      <p:sp>
        <p:nvSpPr>
          <p:cNvPr id="168" name="Google Shape;168;p19"/>
          <p:cNvSpPr/>
          <p:nvPr/>
        </p:nvSpPr>
        <p:spPr>
          <a:xfrm>
            <a:off x="8316698" y="4085975"/>
            <a:ext cx="2982600" cy="2432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Light"/>
              <a:ea typeface="Helvetica Neue Light"/>
              <a:cs typeface="Helvetica Neue Light"/>
              <a:sym typeface="Helvetica Neue Light"/>
            </a:endParaRPr>
          </a:p>
        </p:txBody>
      </p:sp>
      <p:sp>
        <p:nvSpPr>
          <p:cNvPr id="169" name="Google Shape;169;p19"/>
          <p:cNvSpPr txBox="1"/>
          <p:nvPr/>
        </p:nvSpPr>
        <p:spPr>
          <a:xfrm>
            <a:off x="8453800" y="4118100"/>
            <a:ext cx="2708400" cy="5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Helvetica Neue Light"/>
                <a:ea typeface="Helvetica Neue Light"/>
                <a:cs typeface="Helvetica Neue Light"/>
                <a:sym typeface="Helvetica Neue Light"/>
              </a:rPr>
              <a:t>Smart contracts</a:t>
            </a:r>
            <a:endParaRPr sz="2800">
              <a:solidFill>
                <a:schemeClr val="dk1"/>
              </a:solidFill>
              <a:latin typeface="Helvetica Neue Light"/>
              <a:ea typeface="Helvetica Neue Light"/>
              <a:cs typeface="Helvetica Neue Light"/>
              <a:sym typeface="Helvetica Neue Light"/>
            </a:endParaRPr>
          </a:p>
        </p:txBody>
      </p:sp>
      <p:pic>
        <p:nvPicPr>
          <p:cNvPr id="170" name="Google Shape;170;p19"/>
          <p:cNvPicPr preferRelativeResize="0"/>
          <p:nvPr/>
        </p:nvPicPr>
        <p:blipFill rotWithShape="1">
          <a:blip r:embed="rId3">
            <a:alphaModFix/>
          </a:blip>
          <a:srcRect r="79453"/>
          <a:stretch/>
        </p:blipFill>
        <p:spPr>
          <a:xfrm>
            <a:off x="8510318" y="5024180"/>
            <a:ext cx="1053437" cy="1192893"/>
          </a:xfrm>
          <a:prstGeom prst="rect">
            <a:avLst/>
          </a:prstGeom>
          <a:noFill/>
          <a:ln>
            <a:noFill/>
          </a:ln>
        </p:spPr>
      </p:pic>
      <p:pic>
        <p:nvPicPr>
          <p:cNvPr id="171" name="Google Shape;171;p19"/>
          <p:cNvPicPr preferRelativeResize="0"/>
          <p:nvPr/>
        </p:nvPicPr>
        <p:blipFill>
          <a:blip r:embed="rId11">
            <a:alphaModFix/>
          </a:blip>
          <a:stretch>
            <a:fillRect/>
          </a:stretch>
        </p:blipFill>
        <p:spPr>
          <a:xfrm flipH="1">
            <a:off x="9734483" y="5204125"/>
            <a:ext cx="1263826" cy="710902"/>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8</a:t>
            </a:fld>
            <a:endParaRPr/>
          </a:p>
        </p:txBody>
      </p:sp>
      <p:sp>
        <p:nvSpPr>
          <p:cNvPr id="177" name="Google Shape;177;p20"/>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78" name="Google Shape;178;p20"/>
          <p:cNvSpPr txBox="1"/>
          <p:nvPr/>
        </p:nvSpPr>
        <p:spPr>
          <a:xfrm>
            <a:off x="330600" y="200525"/>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MVP (Minimal Viable Product)</a:t>
            </a:r>
            <a:endParaRPr sz="3200" b="1">
              <a:solidFill>
                <a:schemeClr val="dk1"/>
              </a:solidFill>
              <a:latin typeface="Helvetica Neue"/>
              <a:ea typeface="Helvetica Neue"/>
              <a:cs typeface="Helvetica Neue"/>
              <a:sym typeface="Helvetica Neue"/>
            </a:endParaRPr>
          </a:p>
        </p:txBody>
      </p:sp>
      <p:sp>
        <p:nvSpPr>
          <p:cNvPr id="179" name="Google Shape;179;p20"/>
          <p:cNvSpPr txBox="1"/>
          <p:nvPr/>
        </p:nvSpPr>
        <p:spPr>
          <a:xfrm>
            <a:off x="1838174" y="734739"/>
            <a:ext cx="7594583" cy="259555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1400"/>
              </a:spcBef>
              <a:spcAft>
                <a:spcPts val="0"/>
              </a:spcAft>
              <a:buClr>
                <a:schemeClr val="dk1"/>
              </a:buClr>
              <a:buSzPts val="1100"/>
              <a:buFont typeface="Arial"/>
              <a:buNone/>
            </a:pPr>
            <a:r>
              <a:rPr lang="en-US" sz="1800" b="1">
                <a:solidFill>
                  <a:schemeClr val="dk1"/>
                </a:solidFill>
              </a:rPr>
              <a:t>Network Architecture</a:t>
            </a:r>
            <a:endParaRPr sz="1800" b="1">
              <a:solidFill>
                <a:schemeClr val="dk1"/>
              </a:solidFill>
            </a:endParaRPr>
          </a:p>
          <a:p>
            <a:pPr marL="457200" lvl="0" indent="-342900" algn="l" rtl="0">
              <a:lnSpc>
                <a:spcPct val="150000"/>
              </a:lnSpc>
              <a:spcBef>
                <a:spcPts val="1200"/>
              </a:spcBef>
              <a:spcAft>
                <a:spcPts val="0"/>
              </a:spcAft>
              <a:buClr>
                <a:schemeClr val="dk1"/>
              </a:buClr>
              <a:buSzPts val="1800"/>
              <a:buChar char="●"/>
            </a:pPr>
            <a:r>
              <a:rPr lang="en-US" sz="1800">
                <a:solidFill>
                  <a:schemeClr val="dk1"/>
                </a:solidFill>
              </a:rPr>
              <a:t>Public (Permissionless) Blockchains</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Permissioned (Private / Consortium) Blockchains</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Centralized Architecture (Single Leader)</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Distributed / Decentralized Architecture (Multiple Writers)</a:t>
            </a:r>
            <a:endParaRPr sz="1800">
              <a:solidFill>
                <a:schemeClr val="dk1"/>
              </a:solidFill>
              <a:latin typeface="Helvetica Neue Light"/>
              <a:ea typeface="Helvetica Neue Light"/>
              <a:cs typeface="Helvetica Neue Light"/>
              <a:sym typeface="Helvetica Neue Light"/>
            </a:endParaRPr>
          </a:p>
        </p:txBody>
      </p:sp>
      <p:sp>
        <p:nvSpPr>
          <p:cNvPr id="180" name="Google Shape;180;p20"/>
          <p:cNvSpPr txBox="1"/>
          <p:nvPr/>
        </p:nvSpPr>
        <p:spPr>
          <a:xfrm>
            <a:off x="680789" y="3429000"/>
            <a:ext cx="3917946" cy="259555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1400"/>
              </a:spcBef>
              <a:spcAft>
                <a:spcPts val="0"/>
              </a:spcAft>
              <a:buClr>
                <a:schemeClr val="dk1"/>
              </a:buClr>
              <a:buSzPts val="1100"/>
              <a:buFont typeface="Arial"/>
              <a:buNone/>
            </a:pPr>
            <a:r>
              <a:rPr lang="en-US" sz="1800" b="1">
                <a:solidFill>
                  <a:schemeClr val="dk1"/>
                </a:solidFill>
              </a:rPr>
              <a:t>Consensus</a:t>
            </a:r>
            <a:endParaRPr sz="1800" b="1">
              <a:solidFill>
                <a:schemeClr val="dk1"/>
              </a:solidFill>
            </a:endParaRPr>
          </a:p>
          <a:p>
            <a:pPr marL="457200" lvl="0" indent="-342900" algn="l" rtl="0">
              <a:lnSpc>
                <a:spcPct val="150000"/>
              </a:lnSpc>
              <a:spcBef>
                <a:spcPts val="1200"/>
              </a:spcBef>
              <a:spcAft>
                <a:spcPts val="0"/>
              </a:spcAft>
              <a:buClr>
                <a:schemeClr val="dk1"/>
              </a:buClr>
              <a:buSzPts val="1800"/>
              <a:buChar char="●"/>
            </a:pPr>
            <a:r>
              <a:rPr lang="en-US" sz="1800">
                <a:solidFill>
                  <a:schemeClr val="dk1"/>
                </a:solidFill>
              </a:rPr>
              <a:t>Proof of work (Pow)</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Proof of Stake (Pos)</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RAFT</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PBFT</a:t>
            </a:r>
            <a:endParaRPr sz="1800">
              <a:solidFill>
                <a:schemeClr val="dk1"/>
              </a:solidFill>
            </a:endParaRPr>
          </a:p>
        </p:txBody>
      </p:sp>
      <p:sp>
        <p:nvSpPr>
          <p:cNvPr id="181" name="Google Shape;181;p20"/>
          <p:cNvSpPr txBox="1"/>
          <p:nvPr/>
        </p:nvSpPr>
        <p:spPr>
          <a:xfrm>
            <a:off x="4906975" y="3664449"/>
            <a:ext cx="4898762" cy="1349057"/>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1400"/>
              </a:spcBef>
              <a:spcAft>
                <a:spcPts val="0"/>
              </a:spcAft>
              <a:buNone/>
            </a:pPr>
            <a:r>
              <a:rPr lang="en-US" sz="1800" b="1" dirty="0">
                <a:solidFill>
                  <a:schemeClr val="dk1"/>
                </a:solidFill>
              </a:rPr>
              <a:t>Smart Contract Support</a:t>
            </a:r>
            <a:endParaRPr sz="1800" b="1" dirty="0">
              <a:solidFill>
                <a:schemeClr val="dk1"/>
              </a:solidFill>
            </a:endParaRPr>
          </a:p>
          <a:p>
            <a:pPr marL="457200" lvl="0" indent="-342900" algn="l" rtl="0">
              <a:lnSpc>
                <a:spcPct val="150000"/>
              </a:lnSpc>
              <a:spcBef>
                <a:spcPts val="1200"/>
              </a:spcBef>
              <a:spcAft>
                <a:spcPts val="0"/>
              </a:spcAft>
              <a:buClr>
                <a:schemeClr val="dk1"/>
              </a:buClr>
              <a:buSzPts val="1800"/>
              <a:buChar char="●"/>
            </a:pPr>
            <a:r>
              <a:rPr lang="en-US" sz="1800" dirty="0">
                <a:solidFill>
                  <a:schemeClr val="dk1"/>
                </a:solidFill>
              </a:rPr>
              <a:t>Dynamic smart Contract code blocks</a:t>
            </a:r>
            <a:endParaRPr sz="1800" dirty="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9</a:t>
            </a:fld>
            <a:endParaRPr/>
          </a:p>
        </p:txBody>
      </p:sp>
      <p:sp>
        <p:nvSpPr>
          <p:cNvPr id="187" name="Google Shape;187;p21"/>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88" name="Google Shape;188;p21"/>
          <p:cNvSpPr txBox="1"/>
          <p:nvPr/>
        </p:nvSpPr>
        <p:spPr>
          <a:xfrm>
            <a:off x="760125" y="1194799"/>
            <a:ext cx="4702212" cy="2667337"/>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1400"/>
              </a:spcBef>
              <a:spcAft>
                <a:spcPts val="0"/>
              </a:spcAft>
              <a:buNone/>
            </a:pPr>
            <a:r>
              <a:rPr lang="en-US" sz="1800" b="1">
                <a:solidFill>
                  <a:schemeClr val="dk1"/>
                </a:solidFill>
              </a:rPr>
              <a:t>Synchronization</a:t>
            </a:r>
            <a:endParaRPr sz="1800" b="1">
              <a:solidFill>
                <a:schemeClr val="dk1"/>
              </a:solidFill>
            </a:endParaRPr>
          </a:p>
          <a:p>
            <a:pPr marL="457200" lvl="0" indent="-342900" algn="l" rtl="0">
              <a:lnSpc>
                <a:spcPct val="150000"/>
              </a:lnSpc>
              <a:spcBef>
                <a:spcPts val="1200"/>
              </a:spcBef>
              <a:spcAft>
                <a:spcPts val="0"/>
              </a:spcAft>
              <a:buClr>
                <a:schemeClr val="dk1"/>
              </a:buClr>
              <a:buSzPts val="1800"/>
              <a:buChar char="●"/>
            </a:pPr>
            <a:r>
              <a:rPr lang="en-US" sz="1800">
                <a:solidFill>
                  <a:schemeClr val="dk1"/>
                </a:solidFill>
              </a:rPr>
              <a:t>Block Propagation Mechanism</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Out-of-Order Block Buffering</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Missing Block Recovery (Syncing)</a:t>
            </a:r>
            <a:endParaRPr sz="180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Node Rejoining Support</a:t>
            </a:r>
            <a:endParaRPr sz="1800" b="1">
              <a:solidFill>
                <a:schemeClr val="dk1"/>
              </a:solidFill>
            </a:endParaRPr>
          </a:p>
        </p:txBody>
      </p:sp>
      <p:sp>
        <p:nvSpPr>
          <p:cNvPr id="189" name="Google Shape;189;p21"/>
          <p:cNvSpPr txBox="1"/>
          <p:nvPr/>
        </p:nvSpPr>
        <p:spPr>
          <a:xfrm>
            <a:off x="6095999" y="1194800"/>
            <a:ext cx="5335875" cy="2667336"/>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1400"/>
              </a:spcBef>
              <a:spcAft>
                <a:spcPts val="0"/>
              </a:spcAft>
              <a:buNone/>
            </a:pPr>
            <a:r>
              <a:rPr lang="en-US" sz="1800" b="1" dirty="0">
                <a:solidFill>
                  <a:schemeClr val="dk1"/>
                </a:solidFill>
              </a:rPr>
              <a:t> Access &amp; Participation</a:t>
            </a:r>
            <a:endParaRPr sz="1800" b="1" dirty="0">
              <a:solidFill>
                <a:schemeClr val="dk1"/>
              </a:solidFill>
            </a:endParaRPr>
          </a:p>
          <a:p>
            <a:pPr marL="457200" lvl="0" indent="-342900" algn="l" rtl="0">
              <a:lnSpc>
                <a:spcPct val="150000"/>
              </a:lnSpc>
              <a:spcBef>
                <a:spcPts val="1200"/>
              </a:spcBef>
              <a:spcAft>
                <a:spcPts val="0"/>
              </a:spcAft>
              <a:buClr>
                <a:schemeClr val="dk1"/>
              </a:buClr>
              <a:buSzPts val="1800"/>
              <a:buChar char="●"/>
            </a:pPr>
            <a:r>
              <a:rPr lang="en-US" sz="1800" dirty="0">
                <a:solidFill>
                  <a:schemeClr val="dk1"/>
                </a:solidFill>
              </a:rPr>
              <a:t>Role-Based Read/Write Permissions</a:t>
            </a:r>
            <a:endParaRPr sz="1800" dirty="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dirty="0">
                <a:solidFill>
                  <a:schemeClr val="dk1"/>
                </a:solidFill>
              </a:rPr>
              <a:t>Node Admission Control (Permissioned Mode)</a:t>
            </a:r>
            <a:endParaRPr sz="1800" dirty="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dirty="0">
                <a:solidFill>
                  <a:schemeClr val="dk1"/>
                </a:solidFill>
              </a:rPr>
              <a:t>Open Participation (Public Mode)</a:t>
            </a:r>
            <a:endParaRPr sz="1800" dirty="0">
              <a:solidFill>
                <a:schemeClr val="dk1"/>
              </a:solidFill>
              <a:latin typeface="Helvetica Neue Light"/>
              <a:ea typeface="Helvetica Neue Light"/>
              <a:cs typeface="Helvetica Neue Light"/>
              <a:sym typeface="Helvetica Neue Light"/>
            </a:endParaRPr>
          </a:p>
        </p:txBody>
      </p:sp>
      <p:sp>
        <p:nvSpPr>
          <p:cNvPr id="190" name="Google Shape;190;p21"/>
          <p:cNvSpPr txBox="1"/>
          <p:nvPr/>
        </p:nvSpPr>
        <p:spPr>
          <a:xfrm>
            <a:off x="330600" y="200525"/>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MVP (Minimal Viable Product)</a:t>
            </a:r>
            <a:endParaRPr sz="3200" b="1">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2"/>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10</a:t>
            </a:fld>
            <a:endParaRPr/>
          </a:p>
        </p:txBody>
      </p:sp>
      <p:sp>
        <p:nvSpPr>
          <p:cNvPr id="196" name="Google Shape;196;p22"/>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197" name="Google Shape;197;p22"/>
          <p:cNvSpPr txBox="1"/>
          <p:nvPr/>
        </p:nvSpPr>
        <p:spPr>
          <a:xfrm>
            <a:off x="208900" y="1072875"/>
            <a:ext cx="5518132" cy="216362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800" b="1" dirty="0">
                <a:solidFill>
                  <a:schemeClr val="dk1"/>
                </a:solidFill>
              </a:rPr>
              <a:t>Conclusion</a:t>
            </a:r>
            <a:endParaRPr sz="1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dirty="0" err="1">
                <a:solidFill>
                  <a:schemeClr val="dk1"/>
                </a:solidFill>
              </a:rPr>
              <a:t>ChainForge</a:t>
            </a:r>
            <a:r>
              <a:rPr lang="en-US" sz="1800" dirty="0">
                <a:solidFill>
                  <a:schemeClr val="dk1"/>
                </a:solidFill>
              </a:rPr>
              <a:t> simplifies blockchain creation.</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It abstracts low-level complexity.</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It supports multiple architectures.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It enables real-world applications.</a:t>
            </a:r>
            <a:endParaRPr sz="1800" dirty="0">
              <a:solidFill>
                <a:schemeClr val="dk1"/>
              </a:solidFill>
              <a:latin typeface="Helvetica Neue Light"/>
              <a:ea typeface="Helvetica Neue Light"/>
              <a:cs typeface="Helvetica Neue Light"/>
              <a:sym typeface="Helvetica Neue Light"/>
            </a:endParaRPr>
          </a:p>
        </p:txBody>
      </p:sp>
      <p:sp>
        <p:nvSpPr>
          <p:cNvPr id="198" name="Google Shape;198;p22"/>
          <p:cNvSpPr txBox="1"/>
          <p:nvPr/>
        </p:nvSpPr>
        <p:spPr>
          <a:xfrm>
            <a:off x="6096000" y="995925"/>
            <a:ext cx="5765400" cy="290179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800" b="1" dirty="0">
                <a:solidFill>
                  <a:schemeClr val="dk1"/>
                </a:solidFill>
              </a:rPr>
              <a:t>Expected Outcome</a:t>
            </a:r>
            <a:endParaRPr sz="18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800" dirty="0">
                <a:solidFill>
                  <a:schemeClr val="dk1"/>
                </a:solidFill>
              </a:rPr>
              <a:t>By the end of the project:</a:t>
            </a:r>
            <a:endParaRPr sz="1800"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dirty="0">
                <a:solidFill>
                  <a:schemeClr val="dk1"/>
                </a:solidFill>
              </a:rPr>
              <a:t>A working blockchain creation framework</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Support for all the above mentioned functionalities.</a:t>
            </a: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latin typeface="Helvetica Neue Light"/>
                <a:ea typeface="Helvetica Neue Light"/>
                <a:cs typeface="Helvetica Neue Light"/>
                <a:sym typeface="Helvetica Neue Light"/>
              </a:rPr>
              <a:t>Create a demo blockchain to demonstrate use of the platform.</a:t>
            </a:r>
            <a:endParaRPr sz="1800" dirty="0">
              <a:solidFill>
                <a:schemeClr val="dk1"/>
              </a:solidFill>
              <a:latin typeface="Helvetica Neue Light"/>
              <a:ea typeface="Helvetica Neue Light"/>
              <a:cs typeface="Helvetica Neue Light"/>
              <a:sym typeface="Helvetica Neue Light"/>
            </a:endParaRPr>
          </a:p>
        </p:txBody>
      </p:sp>
      <p:sp>
        <p:nvSpPr>
          <p:cNvPr id="199" name="Google Shape;199;p22"/>
          <p:cNvSpPr txBox="1"/>
          <p:nvPr/>
        </p:nvSpPr>
        <p:spPr>
          <a:xfrm>
            <a:off x="330600" y="200525"/>
            <a:ext cx="11530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Helvetica Neue"/>
                <a:ea typeface="Helvetica Neue"/>
                <a:cs typeface="Helvetica Neue"/>
                <a:sym typeface="Helvetica Neue"/>
              </a:rPr>
              <a:t>Conclusion And Expected Outcomes</a:t>
            </a:r>
            <a:endParaRPr sz="3200" b="1">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3"/>
          <p:cNvSpPr txBox="1">
            <a:spLocks noGrp="1"/>
          </p:cNvSpPr>
          <p:nvPr>
            <p:ph type="sldNum" idx="12"/>
          </p:nvPr>
        </p:nvSpPr>
        <p:spPr>
          <a:xfrm>
            <a:off x="10802678" y="6284675"/>
            <a:ext cx="5511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b="1"/>
              <a:t>|</a:t>
            </a:r>
            <a:r>
              <a:rPr lang="en-US"/>
              <a:t>  </a:t>
            </a:r>
            <a:fld id="{00000000-1234-1234-1234-123412341234}" type="slidenum">
              <a:rPr lang="en-US"/>
              <a:t>11</a:t>
            </a:fld>
            <a:endParaRPr/>
          </a:p>
        </p:txBody>
      </p:sp>
      <p:sp>
        <p:nvSpPr>
          <p:cNvPr id="205" name="Google Shape;205;p23"/>
          <p:cNvSpPr txBox="1">
            <a:spLocks noGrp="1"/>
          </p:cNvSpPr>
          <p:nvPr>
            <p:ph type="dt" idx="10"/>
          </p:nvPr>
        </p:nvSpPr>
        <p:spPr>
          <a:xfrm>
            <a:off x="7924800" y="6284674"/>
            <a:ext cx="2877900" cy="3774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17/02/26</a:t>
            </a:r>
            <a:endParaRPr/>
          </a:p>
        </p:txBody>
      </p:sp>
      <p:sp>
        <p:nvSpPr>
          <p:cNvPr id="206" name="Google Shape;206;p23"/>
          <p:cNvSpPr txBox="1"/>
          <p:nvPr/>
        </p:nvSpPr>
        <p:spPr>
          <a:xfrm>
            <a:off x="100275" y="2182200"/>
            <a:ext cx="12192000" cy="2493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5000" b="1">
                <a:solidFill>
                  <a:schemeClr val="dk1"/>
                </a:solidFill>
                <a:latin typeface="Helvetica Neue"/>
                <a:ea typeface="Helvetica Neue"/>
                <a:cs typeface="Helvetica Neue"/>
                <a:sym typeface="Helvetica Neue"/>
              </a:rPr>
              <a:t>Thank you</a:t>
            </a:r>
            <a:endParaRPr sz="15000" b="1">
              <a:solidFill>
                <a:schemeClr val="dk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1828</Words>
  <Application>Microsoft Office PowerPoint</Application>
  <PresentationFormat>Widescreen</PresentationFormat>
  <Paragraphs>234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Mono</vt:lpstr>
      <vt:lpstr>Helvetica Neue Light</vt:lpstr>
      <vt:lpstr>Helvetica Neue</vt:lpstr>
      <vt:lpstr>Calibri</vt:lpstr>
      <vt:lpstr>Arial</vt:lpstr>
      <vt:lpstr>Office Theme</vt:lpstr>
      <vt:lpstr>ChainForge A Platform for Rapid Blockchain Creation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Arth Patel</cp:lastModifiedBy>
  <cp:revision>1</cp:revision>
  <dcterms:modified xsi:type="dcterms:W3CDTF">2026-02-18T18:26:33Z</dcterms:modified>
</cp:coreProperties>
</file>